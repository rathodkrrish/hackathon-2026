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8686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10058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0F19"/>
                </a:solidFill>
              </a:defRPr>
            </a:pPr>
            <a:r>
              <a:t>SLIDE 01</a:t>
            </a:r>
          </a:p>
        </p:txBody>
      </p:sp>
      <p:sp>
        <p:nvSpPr>
          <p:cNvPr id="5" name="Rounded Rectangle 4"/>
          <p:cNvSpPr/>
          <p:nvPr/>
        </p:nvSpPr>
        <p:spPr>
          <a:xfrm>
            <a:off x="1874519" y="502920"/>
            <a:ext cx="1645920" cy="320040"/>
          </a:xfrm>
          <a:prstGeom prst="roundRect">
            <a:avLst/>
          </a:prstGeom>
          <a:solidFill>
            <a:srgbClr val="082F4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STAR: SITUATION</a:t>
            </a:r>
          </a:p>
        </p:txBody>
      </p:sp>
      <p:sp>
        <p:nvSpPr>
          <p:cNvPr id="6" name="TextBox 5"/>
          <p:cNvSpPr txBox="1"/>
          <p:nvPr/>
        </p:nvSpPr>
        <p:spPr>
          <a:xfrm>
            <a:off x="3657600" y="411480"/>
            <a:ext cx="7772400" cy="457200"/>
          </a:xfrm>
          <a:prstGeom prst="rect">
            <a:avLst/>
          </a:prstGeom>
          <a:noFill/>
        </p:spPr>
        <p:txBody>
          <a:bodyPr wrap="square">
            <a:spAutoFit/>
          </a:bodyPr>
          <a:lstStyle/>
          <a:p>
            <a:pPr>
              <a:defRPr sz="1600" b="1">
                <a:solidFill>
                  <a:srgbClr val="F8FAFC"/>
                </a:solidFill>
              </a:defRPr>
            </a:pPr>
            <a:r>
              <a:t>Executive Hook &amp; The 500 GW Clean Grid Dilemma</a:t>
            </a:r>
          </a:p>
          <a:p>
            <a:pPr>
              <a:defRPr sz="1000">
                <a:solidFill>
                  <a:srgbClr val="94A3B8"/>
                </a:solidFill>
              </a:defRPr>
            </a:pPr>
            <a:r>
              <a:t>SUNSYNC AI // Autonomous Solar Grid Intelligence • Problem Statement PS-5A</a:t>
            </a:r>
          </a:p>
        </p:txBody>
      </p:sp>
      <p:sp>
        <p:nvSpPr>
          <p:cNvPr id="7" name="Rectangle 6"/>
          <p:cNvSpPr/>
          <p:nvPr/>
        </p:nvSpPr>
        <p:spPr>
          <a:xfrm>
            <a:off x="548640" y="1371600"/>
            <a:ext cx="3931920" cy="356616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100" b="1">
                <a:solidFill>
                  <a:srgbClr val="F59E0B"/>
                </a:solidFill>
              </a:defRPr>
            </a:pPr>
            <a:r>
              <a:t>LIVE PLATFORM SYNC</a:t>
            </a:r>
          </a:p>
          <a:p>
            <a:pPr>
              <a:defRPr sz="1000">
                <a:solidFill>
                  <a:srgbClr val="94A3B8"/>
                </a:solidFill>
              </a:defRPr>
            </a:pPr>
            <a:r>
              <a:t>Website Tab:</a:t>
            </a:r>
          </a:p>
          <a:p>
            <a:pPr>
              <a:spcAft>
                <a:spcPts val="1400"/>
              </a:spcAft>
              <a:defRPr sz="1300" b="1">
                <a:solidFill>
                  <a:srgbClr val="38BDF8"/>
                </a:solidFill>
              </a:defRPr>
            </a:pPr>
            <a:r>
              <a:t>Top Navigation Header (SUNSYNC | SLDC Gujarat | PS-5A)</a:t>
            </a:r>
          </a:p>
          <a:p>
            <a:pPr>
              <a:defRPr sz="1000">
                <a:solidFill>
                  <a:srgbClr val="94A3B8"/>
                </a:solidFill>
              </a:defRPr>
            </a:pPr>
            <a:r>
              <a:t>Presenter Visual Cue:</a:t>
            </a:r>
          </a:p>
          <a:p>
            <a:pPr>
              <a:spcAft>
                <a:spcPts val="1200"/>
              </a:spcAft>
              <a:defRPr sz="1200">
                <a:solidFill>
                  <a:srgbClr val="F8FAFC"/>
                </a:solidFill>
              </a:defRPr>
            </a:pPr>
            <a:r>
              <a:t>Show the live dashboard home page and the golden SUNSYNC branding banner.</a:t>
            </a:r>
          </a:p>
        </p:txBody>
      </p:sp>
      <p:sp>
        <p:nvSpPr>
          <p:cNvPr id="8" name="Rectangle 7"/>
          <p:cNvSpPr/>
          <p:nvPr/>
        </p:nvSpPr>
        <p:spPr>
          <a:xfrm>
            <a:off x="4663440" y="1371600"/>
            <a:ext cx="6979615" cy="356616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228600"/>
          <a:lstStyle/>
          <a:p>
            <a:pPr algn="ctr">
              <a:spcAft>
                <a:spcPts val="1200"/>
              </a:spcAft>
              <a:defRPr sz="1100" b="1">
                <a:solidFill>
                  <a:srgbClr val="F59E0B"/>
                </a:solidFill>
              </a:defRPr>
            </a:pPr>
            <a:r>
              <a:t>SPEAKER SCRIPT  (SIMPLE ENGLISH)</a:t>
            </a:r>
          </a:p>
          <a:p>
            <a:pPr>
              <a:spcBef>
                <a:spcPts val="400"/>
              </a:spcBef>
              <a:defRPr sz="1450" i="0">
                <a:solidFill>
                  <a:srgbClr val="F8FAFC"/>
                </a:solidFill>
              </a:defRPr>
            </a:pPr>
            <a:r>
              <a:t>"Respected judges, we present SUNSYNC, an autonomous solar dispatch platform built by team LUMINITY for Problem Statement PS-5A. India wants to build 500 gigawatts of clean energy. However, fast-moving clouds cause sudden solar power drops that can crash our electrical grid. SUNSYNC solves this by combining smart physics, fast camera tracking, and instant battery power, creating a modern grid that runs without expensive fossil-fuel plants."</a:t>
            </a:r>
          </a:p>
        </p:txBody>
      </p:sp>
      <p:sp>
        <p:nvSpPr>
          <p:cNvPr id="9" name="Rectangle 8"/>
          <p:cNvSpPr/>
          <p:nvPr/>
        </p:nvSpPr>
        <p:spPr>
          <a:xfrm>
            <a:off x="548640"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PS-5A</a:t>
            </a:r>
          </a:p>
          <a:p>
            <a:pPr algn="ctr">
              <a:spcBef>
                <a:spcPts val="300"/>
              </a:spcBef>
              <a:defRPr sz="1000">
                <a:solidFill>
                  <a:srgbClr val="94A3B8"/>
                </a:solidFill>
              </a:defRPr>
            </a:pPr>
            <a:r>
              <a:t>Track Statement</a:t>
            </a:r>
          </a:p>
        </p:txBody>
      </p:sp>
      <p:sp>
        <p:nvSpPr>
          <p:cNvPr id="10" name="Rectangle 9"/>
          <p:cNvSpPr/>
          <p:nvPr/>
        </p:nvSpPr>
        <p:spPr>
          <a:xfrm>
            <a:off x="3364992"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500 GW</a:t>
            </a:r>
          </a:p>
          <a:p>
            <a:pPr algn="ctr">
              <a:spcBef>
                <a:spcPts val="300"/>
              </a:spcBef>
              <a:defRPr sz="1000">
                <a:solidFill>
                  <a:srgbClr val="94A3B8"/>
                </a:solidFill>
              </a:defRPr>
            </a:pPr>
            <a:r>
              <a:t>National Target</a:t>
            </a:r>
          </a:p>
        </p:txBody>
      </p:sp>
      <p:sp>
        <p:nvSpPr>
          <p:cNvPr id="11" name="Rectangle 10"/>
          <p:cNvSpPr/>
          <p:nvPr/>
        </p:nvSpPr>
        <p:spPr>
          <a:xfrm>
            <a:off x="6181344"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LUMINITY</a:t>
            </a:r>
          </a:p>
          <a:p>
            <a:pPr algn="ctr">
              <a:spcBef>
                <a:spcPts val="300"/>
              </a:spcBef>
              <a:defRPr sz="1000">
                <a:solidFill>
                  <a:srgbClr val="94A3B8"/>
                </a:solidFill>
              </a:defRPr>
            </a:pPr>
            <a:r>
              <a:t>Innovator Team</a:t>
            </a:r>
          </a:p>
        </p:txBody>
      </p:sp>
      <p:sp>
        <p:nvSpPr>
          <p:cNvPr id="12" name="Rectangle 11"/>
          <p:cNvSpPr/>
          <p:nvPr/>
        </p:nvSpPr>
        <p:spPr>
          <a:xfrm>
            <a:off x="8997696"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0-PEAKER</a:t>
            </a:r>
          </a:p>
          <a:p>
            <a:pPr algn="ctr">
              <a:spcBef>
                <a:spcPts val="300"/>
              </a:spcBef>
              <a:defRPr sz="1000">
                <a:solidFill>
                  <a:srgbClr val="94A3B8"/>
                </a:solidFill>
              </a:defRPr>
            </a:pPr>
            <a:r>
              <a:t>Clean Grid Mandate</a:t>
            </a:r>
          </a:p>
        </p:txBody>
      </p:sp>
      <p:sp>
        <p:nvSpPr>
          <p:cNvPr id="13" name="TextBox 12"/>
          <p:cNvSpPr txBox="1"/>
          <p:nvPr/>
        </p:nvSpPr>
        <p:spPr>
          <a:xfrm>
            <a:off x="548640" y="6446520"/>
            <a:ext cx="11094415" cy="320040"/>
          </a:xfrm>
          <a:prstGeom prst="rect">
            <a:avLst/>
          </a:prstGeom>
          <a:noFill/>
        </p:spPr>
        <p:txBody>
          <a:bodyPr wrap="none">
            <a:spAutoFit/>
          </a:bodyPr>
          <a:lstStyle/>
          <a:p>
            <a:pPr algn="ctr">
              <a:defRPr sz="900">
                <a:solidFill>
                  <a:srgbClr val="64748B"/>
                </a:solidFill>
              </a:defRPr>
            </a:pPr>
            <a:r>
              <a:t>SUNSYNC Autonomous Grid Intelligence • (c) 2026 LUMINITY. All rights reserved.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8686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10058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0F19"/>
                </a:solidFill>
              </a:defRPr>
            </a:pPr>
            <a:r>
              <a:t>SLIDE 02</a:t>
            </a:r>
          </a:p>
        </p:txBody>
      </p:sp>
      <p:sp>
        <p:nvSpPr>
          <p:cNvPr id="5" name="Rounded Rectangle 4"/>
          <p:cNvSpPr/>
          <p:nvPr/>
        </p:nvSpPr>
        <p:spPr>
          <a:xfrm>
            <a:off x="1874519" y="502920"/>
            <a:ext cx="1645920" cy="320040"/>
          </a:xfrm>
          <a:prstGeom prst="roundRect">
            <a:avLst/>
          </a:prstGeom>
          <a:solidFill>
            <a:srgbClr val="082F4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STAR: SITUATION</a:t>
            </a:r>
          </a:p>
        </p:txBody>
      </p:sp>
      <p:sp>
        <p:nvSpPr>
          <p:cNvPr id="6" name="TextBox 5"/>
          <p:cNvSpPr txBox="1"/>
          <p:nvPr/>
        </p:nvSpPr>
        <p:spPr>
          <a:xfrm>
            <a:off x="3657600" y="411480"/>
            <a:ext cx="7772400" cy="457200"/>
          </a:xfrm>
          <a:prstGeom prst="rect">
            <a:avLst/>
          </a:prstGeom>
          <a:noFill/>
        </p:spPr>
        <p:txBody>
          <a:bodyPr wrap="square">
            <a:spAutoFit/>
          </a:bodyPr>
          <a:lstStyle/>
          <a:p>
            <a:pPr>
              <a:defRPr sz="1600" b="1">
                <a:solidFill>
                  <a:srgbClr val="F8FAFC"/>
                </a:solidFill>
              </a:defRPr>
            </a:pPr>
            <a:r>
              <a:t>The Multi-Gigawatt Crisis in Gujarat's Solar Parks</a:t>
            </a:r>
          </a:p>
          <a:p>
            <a:pPr>
              <a:defRPr sz="1000">
                <a:solidFill>
                  <a:srgbClr val="94A3B8"/>
                </a:solidFill>
              </a:defRPr>
            </a:pPr>
            <a:r>
              <a:t>SUNSYNC AI // Autonomous Solar Grid Intelligence • Problem Statement PS-5A</a:t>
            </a:r>
          </a:p>
        </p:txBody>
      </p:sp>
      <p:sp>
        <p:nvSpPr>
          <p:cNvPr id="7" name="Rectangle 6"/>
          <p:cNvSpPr/>
          <p:nvPr/>
        </p:nvSpPr>
        <p:spPr>
          <a:xfrm>
            <a:off x="548640" y="1371600"/>
            <a:ext cx="3931920" cy="356616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100" b="1">
                <a:solidFill>
                  <a:srgbClr val="F59E0B"/>
                </a:solidFill>
              </a:defRPr>
            </a:pPr>
            <a:r>
              <a:t>LIVE PLATFORM SYNC</a:t>
            </a:r>
          </a:p>
          <a:p>
            <a:pPr>
              <a:defRPr sz="1000">
                <a:solidFill>
                  <a:srgbClr val="94A3B8"/>
                </a:solidFill>
              </a:defRPr>
            </a:pPr>
            <a:r>
              <a:t>Website Tab:</a:t>
            </a:r>
          </a:p>
          <a:p>
            <a:pPr>
              <a:spcAft>
                <a:spcPts val="1400"/>
              </a:spcAft>
              <a:defRPr sz="1300" b="1">
                <a:solidFill>
                  <a:srgbClr val="38BDF8"/>
                </a:solidFill>
              </a:defRPr>
            </a:pPr>
            <a:r>
              <a:t>Gujarat SLDC Gotri Frequency Bar &amp; National Solar Hub Registry</a:t>
            </a:r>
          </a:p>
          <a:p>
            <a:pPr>
              <a:defRPr sz="1000">
                <a:solidFill>
                  <a:srgbClr val="94A3B8"/>
                </a:solidFill>
              </a:defRPr>
            </a:pPr>
            <a:r>
              <a:t>Presenter Visual Cue:</a:t>
            </a:r>
          </a:p>
          <a:p>
            <a:pPr>
              <a:spcAft>
                <a:spcPts val="1200"/>
              </a:spcAft>
              <a:defRPr sz="1200">
                <a:solidFill>
                  <a:srgbClr val="F8FAFC"/>
                </a:solidFill>
              </a:defRPr>
            </a:pPr>
            <a:r>
              <a:t>Point to 50.01 Hz frequency telemetry and Khavda, Bhadla, Charanka mega parks.</a:t>
            </a:r>
          </a:p>
        </p:txBody>
      </p:sp>
      <p:sp>
        <p:nvSpPr>
          <p:cNvPr id="8" name="Rectangle 7"/>
          <p:cNvSpPr/>
          <p:nvPr/>
        </p:nvSpPr>
        <p:spPr>
          <a:xfrm>
            <a:off x="4663440" y="1371600"/>
            <a:ext cx="6979615" cy="356616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228600"/>
          <a:lstStyle/>
          <a:p>
            <a:pPr algn="ctr">
              <a:spcAft>
                <a:spcPts val="1200"/>
              </a:spcAft>
              <a:defRPr sz="1100" b="1">
                <a:solidFill>
                  <a:srgbClr val="F59E0B"/>
                </a:solidFill>
              </a:defRPr>
            </a:pPr>
            <a:r>
              <a:t>SPEAKER SCRIPT  (SIMPLE ENGLISH)</a:t>
            </a:r>
          </a:p>
          <a:p>
            <a:pPr>
              <a:spcBef>
                <a:spcPts val="400"/>
              </a:spcBef>
              <a:defRPr sz="1450" i="0">
                <a:solidFill>
                  <a:srgbClr val="F8FAFC"/>
                </a:solidFill>
              </a:defRPr>
            </a:pPr>
            <a:r>
              <a:t>"Across Gujarat's giant solar parks—like 9,500 megawatt Khavda, 2,245 megawatt Bhadla, and 790 megawatt Charanka—dark clouds can suddenly cut 40 megawatts in just 30 seconds. When solar generation drops this fast, grid frequency crashes below the legal 49.90 Hertz limit. Grid operators face heavy penalties and are forced to start polluting gas peaker plants that cost a very expensive ₹12 per kilowatt-hour."</a:t>
            </a:r>
          </a:p>
        </p:txBody>
      </p:sp>
      <p:sp>
        <p:nvSpPr>
          <p:cNvPr id="9" name="Rectangle 8"/>
          <p:cNvSpPr/>
          <p:nvPr/>
        </p:nvSpPr>
        <p:spPr>
          <a:xfrm>
            <a:off x="548640"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9,500 MW</a:t>
            </a:r>
          </a:p>
          <a:p>
            <a:pPr algn="ctr">
              <a:spcBef>
                <a:spcPts val="300"/>
              </a:spcBef>
              <a:defRPr sz="1000">
                <a:solidFill>
                  <a:srgbClr val="94A3B8"/>
                </a:solidFill>
              </a:defRPr>
            </a:pPr>
            <a:r>
              <a:t>Khavda Park</a:t>
            </a:r>
          </a:p>
        </p:txBody>
      </p:sp>
      <p:sp>
        <p:nvSpPr>
          <p:cNvPr id="10" name="Rectangle 9"/>
          <p:cNvSpPr/>
          <p:nvPr/>
        </p:nvSpPr>
        <p:spPr>
          <a:xfrm>
            <a:off x="3364992"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2,245 MW</a:t>
            </a:r>
          </a:p>
          <a:p>
            <a:pPr algn="ctr">
              <a:spcBef>
                <a:spcPts val="300"/>
              </a:spcBef>
              <a:defRPr sz="1000">
                <a:solidFill>
                  <a:srgbClr val="94A3B8"/>
                </a:solidFill>
              </a:defRPr>
            </a:pPr>
            <a:r>
              <a:t>Bhadla Park</a:t>
            </a:r>
          </a:p>
        </p:txBody>
      </p:sp>
      <p:sp>
        <p:nvSpPr>
          <p:cNvPr id="11" name="Rectangle 10"/>
          <p:cNvSpPr/>
          <p:nvPr/>
        </p:nvSpPr>
        <p:spPr>
          <a:xfrm>
            <a:off x="6181344"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40 MW / 30s</a:t>
            </a:r>
          </a:p>
          <a:p>
            <a:pPr algn="ctr">
              <a:spcBef>
                <a:spcPts val="300"/>
              </a:spcBef>
              <a:defRPr sz="1000">
                <a:solidFill>
                  <a:srgbClr val="94A3B8"/>
                </a:solidFill>
              </a:defRPr>
            </a:pPr>
            <a:r>
              <a:t>Ramp Severity</a:t>
            </a:r>
          </a:p>
        </p:txBody>
      </p:sp>
      <p:sp>
        <p:nvSpPr>
          <p:cNvPr id="12" name="Rectangle 11"/>
          <p:cNvSpPr/>
          <p:nvPr/>
        </p:nvSpPr>
        <p:spPr>
          <a:xfrm>
            <a:off x="8997696"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₹12 / kWh</a:t>
            </a:r>
          </a:p>
          <a:p>
            <a:pPr algn="ctr">
              <a:spcBef>
                <a:spcPts val="300"/>
              </a:spcBef>
              <a:defRPr sz="1000">
                <a:solidFill>
                  <a:srgbClr val="94A3B8"/>
                </a:solidFill>
              </a:defRPr>
            </a:pPr>
            <a:r>
              <a:t>Fossil Peaker Cost</a:t>
            </a:r>
          </a:p>
        </p:txBody>
      </p:sp>
      <p:sp>
        <p:nvSpPr>
          <p:cNvPr id="13" name="TextBox 12"/>
          <p:cNvSpPr txBox="1"/>
          <p:nvPr/>
        </p:nvSpPr>
        <p:spPr>
          <a:xfrm>
            <a:off x="548640" y="6446520"/>
            <a:ext cx="11094415" cy="320040"/>
          </a:xfrm>
          <a:prstGeom prst="rect">
            <a:avLst/>
          </a:prstGeom>
          <a:noFill/>
        </p:spPr>
        <p:txBody>
          <a:bodyPr wrap="none">
            <a:spAutoFit/>
          </a:bodyPr>
          <a:lstStyle/>
          <a:p>
            <a:pPr algn="ctr">
              <a:defRPr sz="900">
                <a:solidFill>
                  <a:srgbClr val="64748B"/>
                </a:solidFill>
              </a:defRPr>
            </a:pPr>
            <a:r>
              <a:t>SUNSYNC Autonomous Grid Intelligence • (c) 2026 LUMINITY. All rights reserved.</a:t>
            </a:r>
          </a:p>
        </p:txBody>
      </p:sp>
    </p:spTree>
  </p:cSld>
  <p:clrMapOvr>
    <a:masterClrMapping/>
  </p:clrMapOvr>
  <p:transition spd="med">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8686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10058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0F19"/>
                </a:solidFill>
              </a:defRPr>
            </a:pPr>
            <a:r>
              <a:t>SLIDE 03</a:t>
            </a:r>
          </a:p>
        </p:txBody>
      </p:sp>
      <p:sp>
        <p:nvSpPr>
          <p:cNvPr id="5" name="Rounded Rectangle 4"/>
          <p:cNvSpPr/>
          <p:nvPr/>
        </p:nvSpPr>
        <p:spPr>
          <a:xfrm>
            <a:off x="1874519" y="502920"/>
            <a:ext cx="1645920" cy="320040"/>
          </a:xfrm>
          <a:prstGeom prst="roundRect">
            <a:avLst/>
          </a:prstGeom>
          <a:solidFill>
            <a:srgbClr val="082F4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STAR: TASK</a:t>
            </a:r>
          </a:p>
        </p:txBody>
      </p:sp>
      <p:sp>
        <p:nvSpPr>
          <p:cNvPr id="6" name="TextBox 5"/>
          <p:cNvSpPr txBox="1"/>
          <p:nvPr/>
        </p:nvSpPr>
        <p:spPr>
          <a:xfrm>
            <a:off x="3657600" y="411480"/>
            <a:ext cx="7772400" cy="457200"/>
          </a:xfrm>
          <a:prstGeom prst="rect">
            <a:avLst/>
          </a:prstGeom>
          <a:noFill/>
        </p:spPr>
        <p:txBody>
          <a:bodyPr wrap="square">
            <a:spAutoFit/>
          </a:bodyPr>
          <a:lstStyle/>
          <a:p>
            <a:pPr>
              <a:defRPr sz="1600" b="1">
                <a:solidFill>
                  <a:srgbClr val="F8FAFC"/>
                </a:solidFill>
              </a:defRPr>
            </a:pPr>
            <a:r>
              <a:t>Engineering Mission &amp; Technical Goals (PS-5A)</a:t>
            </a:r>
          </a:p>
          <a:p>
            <a:pPr>
              <a:defRPr sz="1000">
                <a:solidFill>
                  <a:srgbClr val="94A3B8"/>
                </a:solidFill>
              </a:defRPr>
            </a:pPr>
            <a:r>
              <a:t>SUNSYNC AI // Autonomous Solar Grid Intelligence • Problem Statement PS-5A</a:t>
            </a:r>
          </a:p>
        </p:txBody>
      </p:sp>
      <p:sp>
        <p:nvSpPr>
          <p:cNvPr id="7" name="Rectangle 6"/>
          <p:cNvSpPr/>
          <p:nvPr/>
        </p:nvSpPr>
        <p:spPr>
          <a:xfrm>
            <a:off x="548640" y="1371600"/>
            <a:ext cx="3931920" cy="356616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100" b="1">
                <a:solidFill>
                  <a:srgbClr val="F59E0B"/>
                </a:solidFill>
              </a:defRPr>
            </a:pPr>
            <a:r>
              <a:t>LIVE PLATFORM SYNC</a:t>
            </a:r>
          </a:p>
          <a:p>
            <a:pPr>
              <a:defRPr sz="1000">
                <a:solidFill>
                  <a:srgbClr val="94A3B8"/>
                </a:solidFill>
              </a:defRPr>
            </a:pPr>
            <a:r>
              <a:t>Website Tab:</a:t>
            </a:r>
          </a:p>
          <a:p>
            <a:pPr>
              <a:spcAft>
                <a:spcPts val="1400"/>
              </a:spcAft>
              <a:defRPr sz="1300" b="1">
                <a:solidFill>
                  <a:srgbClr val="38BDF8"/>
                </a:solidFill>
              </a:defRPr>
            </a:pPr>
            <a:r>
              <a:t>System Architecture &amp; Probabilistic Quantile Goals</a:t>
            </a:r>
          </a:p>
          <a:p>
            <a:pPr>
              <a:defRPr sz="1000">
                <a:solidFill>
                  <a:srgbClr val="94A3B8"/>
                </a:solidFill>
              </a:defRPr>
            </a:pPr>
            <a:r>
              <a:t>Presenter Visual Cue:</a:t>
            </a:r>
          </a:p>
          <a:p>
            <a:pPr>
              <a:spcAft>
                <a:spcPts val="1200"/>
              </a:spcAft>
              <a:defRPr sz="1200">
                <a:solidFill>
                  <a:srgbClr val="F8FAFC"/>
                </a:solidFill>
              </a:defRPr>
            </a:pPr>
            <a:r>
              <a:t>Highlight the P50/P90 quantile curves and 120-minute forward forecast timeline.</a:t>
            </a:r>
          </a:p>
        </p:txBody>
      </p:sp>
      <p:sp>
        <p:nvSpPr>
          <p:cNvPr id="8" name="Rectangle 7"/>
          <p:cNvSpPr/>
          <p:nvPr/>
        </p:nvSpPr>
        <p:spPr>
          <a:xfrm>
            <a:off x="4663440" y="1371600"/>
            <a:ext cx="6979615" cy="356616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228600"/>
          <a:lstStyle/>
          <a:p>
            <a:pPr algn="ctr">
              <a:spcAft>
                <a:spcPts val="1200"/>
              </a:spcAft>
              <a:defRPr sz="1100" b="1">
                <a:solidFill>
                  <a:srgbClr val="F59E0B"/>
                </a:solidFill>
              </a:defRPr>
            </a:pPr>
            <a:r>
              <a:t>SPEAKER SCRIPT  (SIMPLE ENGLISH)</a:t>
            </a:r>
          </a:p>
          <a:p>
            <a:pPr>
              <a:spcBef>
                <a:spcPts val="400"/>
              </a:spcBef>
              <a:defRPr sz="1450" i="0">
                <a:solidFill>
                  <a:srgbClr val="F8FAFC"/>
                </a:solidFill>
              </a:defRPr>
            </a:pPr>
            <a:r>
              <a:t>"Our mission for PS-5A was to replace slow, old forecasting tools with an intelligent real-time system. We set three clear goals: predict solar power drops 120 minutes ahead with under 4% error, stop AI models from making mistakes at night, and command big batteries in under 150 milliseconds. This protects the grid instantly so fossil-fuel backup plants never have to fire up."</a:t>
            </a:r>
          </a:p>
        </p:txBody>
      </p:sp>
      <p:sp>
        <p:nvSpPr>
          <p:cNvPr id="9" name="Rectangle 8"/>
          <p:cNvSpPr/>
          <p:nvPr/>
        </p:nvSpPr>
        <p:spPr>
          <a:xfrm>
            <a:off x="548640"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120 Min</a:t>
            </a:r>
          </a:p>
          <a:p>
            <a:pPr algn="ctr">
              <a:spcBef>
                <a:spcPts val="300"/>
              </a:spcBef>
              <a:defRPr sz="1000">
                <a:solidFill>
                  <a:srgbClr val="94A3B8"/>
                </a:solidFill>
              </a:defRPr>
            </a:pPr>
            <a:r>
              <a:t>Forecast Horizon</a:t>
            </a:r>
          </a:p>
        </p:txBody>
      </p:sp>
      <p:sp>
        <p:nvSpPr>
          <p:cNvPr id="10" name="Rectangle 9"/>
          <p:cNvSpPr/>
          <p:nvPr/>
        </p:nvSpPr>
        <p:spPr>
          <a:xfrm>
            <a:off x="3364992"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&lt; 4.0 %</a:t>
            </a:r>
          </a:p>
          <a:p>
            <a:pPr algn="ctr">
              <a:spcBef>
                <a:spcPts val="300"/>
              </a:spcBef>
              <a:defRPr sz="1000">
                <a:solidFill>
                  <a:srgbClr val="94A3B8"/>
                </a:solidFill>
              </a:defRPr>
            </a:pPr>
            <a:r>
              <a:t>Target Error</a:t>
            </a:r>
          </a:p>
        </p:txBody>
      </p:sp>
      <p:sp>
        <p:nvSpPr>
          <p:cNvPr id="11" name="Rectangle 10"/>
          <p:cNvSpPr/>
          <p:nvPr/>
        </p:nvSpPr>
        <p:spPr>
          <a:xfrm>
            <a:off x="6181344"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&lt; 150 ms</a:t>
            </a:r>
          </a:p>
          <a:p>
            <a:pPr algn="ctr">
              <a:spcBef>
                <a:spcPts val="300"/>
              </a:spcBef>
              <a:defRPr sz="1000">
                <a:solidFill>
                  <a:srgbClr val="94A3B8"/>
                </a:solidFill>
              </a:defRPr>
            </a:pPr>
            <a:r>
              <a:t>BESS Trigger</a:t>
            </a:r>
          </a:p>
        </p:txBody>
      </p:sp>
      <p:sp>
        <p:nvSpPr>
          <p:cNvPr id="12" name="Rectangle 11"/>
          <p:cNvSpPr/>
          <p:nvPr/>
        </p:nvSpPr>
        <p:spPr>
          <a:xfrm>
            <a:off x="8997696"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100 %</a:t>
            </a:r>
          </a:p>
          <a:p>
            <a:pPr algn="ctr">
              <a:spcBef>
                <a:spcPts val="300"/>
              </a:spcBef>
              <a:defRPr sz="1000">
                <a:solidFill>
                  <a:srgbClr val="94A3B8"/>
                </a:solidFill>
              </a:defRPr>
            </a:pPr>
            <a:r>
              <a:t>Zero Peaker Run</a:t>
            </a:r>
          </a:p>
        </p:txBody>
      </p:sp>
      <p:sp>
        <p:nvSpPr>
          <p:cNvPr id="13" name="TextBox 12"/>
          <p:cNvSpPr txBox="1"/>
          <p:nvPr/>
        </p:nvSpPr>
        <p:spPr>
          <a:xfrm>
            <a:off x="548640" y="6446520"/>
            <a:ext cx="11094415" cy="320040"/>
          </a:xfrm>
          <a:prstGeom prst="rect">
            <a:avLst/>
          </a:prstGeom>
          <a:noFill/>
        </p:spPr>
        <p:txBody>
          <a:bodyPr wrap="none">
            <a:spAutoFit/>
          </a:bodyPr>
          <a:lstStyle/>
          <a:p>
            <a:pPr algn="ctr">
              <a:defRPr sz="900">
                <a:solidFill>
                  <a:srgbClr val="64748B"/>
                </a:solidFill>
              </a:defRPr>
            </a:pPr>
            <a:r>
              <a:t>SUNSYNC Autonomous Grid Intelligence • (c) 2026 LUMINITY. All rights reserved.</a:t>
            </a:r>
          </a:p>
        </p:txBody>
      </p:sp>
    </p:spTree>
  </p:cSld>
  <p:clrMapOvr>
    <a:masterClrMapping/>
  </p:clrMapOvr>
  <p:transition spd="med">
    <p:push dir="l"/>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8686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10058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0F19"/>
                </a:solidFill>
              </a:defRPr>
            </a:pPr>
            <a:r>
              <a:t>SLIDE 04</a:t>
            </a:r>
          </a:p>
        </p:txBody>
      </p:sp>
      <p:sp>
        <p:nvSpPr>
          <p:cNvPr id="5" name="Rounded Rectangle 4"/>
          <p:cNvSpPr/>
          <p:nvPr/>
        </p:nvSpPr>
        <p:spPr>
          <a:xfrm>
            <a:off x="1874519" y="502920"/>
            <a:ext cx="1645920" cy="320040"/>
          </a:xfrm>
          <a:prstGeom prst="roundRect">
            <a:avLst/>
          </a:prstGeom>
          <a:solidFill>
            <a:srgbClr val="082F4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STAR: ACTION</a:t>
            </a:r>
          </a:p>
        </p:txBody>
      </p:sp>
      <p:sp>
        <p:nvSpPr>
          <p:cNvPr id="6" name="TextBox 5"/>
          <p:cNvSpPr txBox="1"/>
          <p:nvPr/>
        </p:nvSpPr>
        <p:spPr>
          <a:xfrm>
            <a:off x="3657600" y="411480"/>
            <a:ext cx="7772400" cy="457200"/>
          </a:xfrm>
          <a:prstGeom prst="rect">
            <a:avLst/>
          </a:prstGeom>
          <a:noFill/>
        </p:spPr>
        <p:txBody>
          <a:bodyPr wrap="square">
            <a:spAutoFit/>
          </a:bodyPr>
          <a:lstStyle/>
          <a:p>
            <a:pPr>
              <a:defRPr sz="1600" b="1">
                <a:solidFill>
                  <a:srgbClr val="F8FAFC"/>
                </a:solidFill>
              </a:defRPr>
            </a:pPr>
            <a:r>
              <a:t>Command Center: Real-Time SCADA &amp; Quantile Telemetry</a:t>
            </a:r>
          </a:p>
          <a:p>
            <a:pPr>
              <a:defRPr sz="1000">
                <a:solidFill>
                  <a:srgbClr val="94A3B8"/>
                </a:solidFill>
              </a:defRPr>
            </a:pPr>
            <a:r>
              <a:t>SUNSYNC AI // Autonomous Solar Grid Intelligence • Problem Statement PS-5A</a:t>
            </a:r>
          </a:p>
        </p:txBody>
      </p:sp>
      <p:sp>
        <p:nvSpPr>
          <p:cNvPr id="7" name="Rectangle 6"/>
          <p:cNvSpPr/>
          <p:nvPr/>
        </p:nvSpPr>
        <p:spPr>
          <a:xfrm>
            <a:off x="548640" y="1371600"/>
            <a:ext cx="3931920" cy="356616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100" b="1">
                <a:solidFill>
                  <a:srgbClr val="F59E0B"/>
                </a:solidFill>
              </a:defRPr>
            </a:pPr>
            <a:r>
              <a:t>LIVE PLATFORM SYNC</a:t>
            </a:r>
          </a:p>
          <a:p>
            <a:pPr>
              <a:defRPr sz="1000">
                <a:solidFill>
                  <a:srgbClr val="94A3B8"/>
                </a:solidFill>
              </a:defRPr>
            </a:pPr>
            <a:r>
              <a:t>Website Tab:</a:t>
            </a:r>
          </a:p>
          <a:p>
            <a:pPr>
              <a:spcAft>
                <a:spcPts val="1400"/>
              </a:spcAft>
              <a:defRPr sz="1300" b="1">
                <a:solidFill>
                  <a:srgbClr val="38BDF8"/>
                </a:solidFill>
              </a:defRPr>
            </a:pPr>
            <a:r>
              <a:t>Tab 1 — Command Center</a:t>
            </a:r>
          </a:p>
          <a:p>
            <a:pPr>
              <a:defRPr sz="1000">
                <a:solidFill>
                  <a:srgbClr val="94A3B8"/>
                </a:solidFill>
              </a:defRPr>
            </a:pPr>
            <a:r>
              <a:t>Presenter Visual Cue:</a:t>
            </a:r>
          </a:p>
          <a:p>
            <a:pPr>
              <a:spcAft>
                <a:spcPts val="1200"/>
              </a:spcAft>
              <a:defRPr sz="1200">
                <a:solidFill>
                  <a:srgbClr val="F8FAFC"/>
                </a:solidFill>
              </a:defRPr>
            </a:pPr>
            <a:r>
              <a:t>Demonstrate live P10, P50, P90 Quantile Area Chart and 50.01 Hz frequency lock.</a:t>
            </a:r>
          </a:p>
        </p:txBody>
      </p:sp>
      <p:sp>
        <p:nvSpPr>
          <p:cNvPr id="8" name="Rectangle 7"/>
          <p:cNvSpPr/>
          <p:nvPr/>
        </p:nvSpPr>
        <p:spPr>
          <a:xfrm>
            <a:off x="4663440" y="1371600"/>
            <a:ext cx="6979615" cy="356616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228600"/>
          <a:lstStyle/>
          <a:p>
            <a:pPr algn="ctr">
              <a:spcAft>
                <a:spcPts val="1200"/>
              </a:spcAft>
              <a:defRPr sz="1100" b="1">
                <a:solidFill>
                  <a:srgbClr val="F59E0B"/>
                </a:solidFill>
              </a:defRPr>
            </a:pPr>
            <a:r>
              <a:t>SPEAKER SCRIPT  (SIMPLE ENGLISH)</a:t>
            </a:r>
          </a:p>
          <a:p>
            <a:pPr>
              <a:spcBef>
                <a:spcPts val="400"/>
              </a:spcBef>
              <a:defRPr sz="1450" i="0">
                <a:solidFill>
                  <a:srgbClr val="F8FAFC"/>
                </a:solidFill>
              </a:defRPr>
            </a:pPr>
            <a:r>
              <a:t>"Our Command Center tab connects directly to 32 central inverters across the solar park. Instead of just guessing one number, SUNSYNC provides three smart prediction lines with an ultra-fast 48 millisecond reaction speed. It stays locked onto Gujarat's SLDC grid frequency at 50.01 Hertz. Operators get clean, live charts that show the best case, worst case, and most likely power output every second."</a:t>
            </a:r>
          </a:p>
        </p:txBody>
      </p:sp>
      <p:sp>
        <p:nvSpPr>
          <p:cNvPr id="9" name="Rectangle 8"/>
          <p:cNvSpPr/>
          <p:nvPr/>
        </p:nvSpPr>
        <p:spPr>
          <a:xfrm>
            <a:off x="548640"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32 Inverters</a:t>
            </a:r>
          </a:p>
          <a:p>
            <a:pPr algn="ctr">
              <a:spcBef>
                <a:spcPts val="300"/>
              </a:spcBef>
              <a:defRPr sz="1000">
                <a:solidFill>
                  <a:srgbClr val="94A3B8"/>
                </a:solidFill>
              </a:defRPr>
            </a:pPr>
            <a:r>
              <a:t>Active SCADA Feed</a:t>
            </a:r>
          </a:p>
        </p:txBody>
      </p:sp>
      <p:sp>
        <p:nvSpPr>
          <p:cNvPr id="10" name="Rectangle 9"/>
          <p:cNvSpPr/>
          <p:nvPr/>
        </p:nvSpPr>
        <p:spPr>
          <a:xfrm>
            <a:off x="3364992"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48 ms</a:t>
            </a:r>
          </a:p>
          <a:p>
            <a:pPr algn="ctr">
              <a:spcBef>
                <a:spcPts val="300"/>
              </a:spcBef>
              <a:defRPr sz="1000">
                <a:solidFill>
                  <a:srgbClr val="94A3B8"/>
                </a:solidFill>
              </a:defRPr>
            </a:pPr>
            <a:r>
              <a:t>Inference Latency</a:t>
            </a:r>
          </a:p>
        </p:txBody>
      </p:sp>
      <p:sp>
        <p:nvSpPr>
          <p:cNvPr id="11" name="Rectangle 10"/>
          <p:cNvSpPr/>
          <p:nvPr/>
        </p:nvSpPr>
        <p:spPr>
          <a:xfrm>
            <a:off x="6181344"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P10/P50/P90</a:t>
            </a:r>
          </a:p>
          <a:p>
            <a:pPr algn="ctr">
              <a:spcBef>
                <a:spcPts val="300"/>
              </a:spcBef>
              <a:defRPr sz="1000">
                <a:solidFill>
                  <a:srgbClr val="94A3B8"/>
                </a:solidFill>
              </a:defRPr>
            </a:pPr>
            <a:r>
              <a:t>Quantile Bounds</a:t>
            </a:r>
          </a:p>
        </p:txBody>
      </p:sp>
      <p:sp>
        <p:nvSpPr>
          <p:cNvPr id="12" name="Rectangle 11"/>
          <p:cNvSpPr/>
          <p:nvPr/>
        </p:nvSpPr>
        <p:spPr>
          <a:xfrm>
            <a:off x="8997696"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50.01 Hz</a:t>
            </a:r>
          </a:p>
          <a:p>
            <a:pPr algn="ctr">
              <a:spcBef>
                <a:spcPts val="300"/>
              </a:spcBef>
              <a:defRPr sz="1000">
                <a:solidFill>
                  <a:srgbClr val="94A3B8"/>
                </a:solidFill>
              </a:defRPr>
            </a:pPr>
            <a:r>
              <a:t>Frequency Lock</a:t>
            </a:r>
          </a:p>
        </p:txBody>
      </p:sp>
      <p:sp>
        <p:nvSpPr>
          <p:cNvPr id="13" name="TextBox 12"/>
          <p:cNvSpPr txBox="1"/>
          <p:nvPr/>
        </p:nvSpPr>
        <p:spPr>
          <a:xfrm>
            <a:off x="548640" y="6446520"/>
            <a:ext cx="11094415" cy="320040"/>
          </a:xfrm>
          <a:prstGeom prst="rect">
            <a:avLst/>
          </a:prstGeom>
          <a:noFill/>
        </p:spPr>
        <p:txBody>
          <a:bodyPr wrap="none">
            <a:spAutoFit/>
          </a:bodyPr>
          <a:lstStyle/>
          <a:p>
            <a:pPr algn="ctr">
              <a:defRPr sz="900">
                <a:solidFill>
                  <a:srgbClr val="64748B"/>
                </a:solidFill>
              </a:defRPr>
            </a:pPr>
            <a:r>
              <a:t>SUNSYNC Autonomous Grid Intelligence • (c) 2026 LUMINITY. All rights reserved.</a:t>
            </a:r>
          </a:p>
        </p:txBody>
      </p:sp>
    </p:spTree>
  </p:cSld>
  <p:clrMapOvr>
    <a:masterClrMapping/>
  </p:clrMapOvr>
  <p:transition spd="med">
    <p:push dir="l"/>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8686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10058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0F19"/>
                </a:solidFill>
              </a:defRPr>
            </a:pPr>
            <a:r>
              <a:t>SLIDE 05</a:t>
            </a:r>
          </a:p>
        </p:txBody>
      </p:sp>
      <p:sp>
        <p:nvSpPr>
          <p:cNvPr id="5" name="Rounded Rectangle 4"/>
          <p:cNvSpPr/>
          <p:nvPr/>
        </p:nvSpPr>
        <p:spPr>
          <a:xfrm>
            <a:off x="1874519" y="502920"/>
            <a:ext cx="1645920" cy="320040"/>
          </a:xfrm>
          <a:prstGeom prst="roundRect">
            <a:avLst/>
          </a:prstGeom>
          <a:solidFill>
            <a:srgbClr val="082F4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STAR: ACTION</a:t>
            </a:r>
          </a:p>
        </p:txBody>
      </p:sp>
      <p:sp>
        <p:nvSpPr>
          <p:cNvPr id="6" name="TextBox 5"/>
          <p:cNvSpPr txBox="1"/>
          <p:nvPr/>
        </p:nvSpPr>
        <p:spPr>
          <a:xfrm>
            <a:off x="3657600" y="411480"/>
            <a:ext cx="7772400" cy="457200"/>
          </a:xfrm>
          <a:prstGeom prst="rect">
            <a:avLst/>
          </a:prstGeom>
          <a:noFill/>
        </p:spPr>
        <p:txBody>
          <a:bodyPr wrap="square">
            <a:spAutoFit/>
          </a:bodyPr>
          <a:lstStyle/>
          <a:p>
            <a:pPr>
              <a:defRPr sz="1600" b="1">
                <a:solidFill>
                  <a:srgbClr val="F8FAFC"/>
                </a:solidFill>
              </a:defRPr>
            </a:pPr>
            <a:r>
              <a:t>Sky Radar: Optical Flow &amp; Cloud Vector Anticipation</a:t>
            </a:r>
          </a:p>
          <a:p>
            <a:pPr>
              <a:defRPr sz="1000">
                <a:solidFill>
                  <a:srgbClr val="94A3B8"/>
                </a:solidFill>
              </a:defRPr>
            </a:pPr>
            <a:r>
              <a:t>SUNSYNC AI // Autonomous Solar Grid Intelligence • Problem Statement PS-5A</a:t>
            </a:r>
          </a:p>
        </p:txBody>
      </p:sp>
      <p:sp>
        <p:nvSpPr>
          <p:cNvPr id="7" name="Rectangle 6"/>
          <p:cNvSpPr/>
          <p:nvPr/>
        </p:nvSpPr>
        <p:spPr>
          <a:xfrm>
            <a:off x="548640" y="1371600"/>
            <a:ext cx="3931920" cy="356616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100" b="1">
                <a:solidFill>
                  <a:srgbClr val="F59E0B"/>
                </a:solidFill>
              </a:defRPr>
            </a:pPr>
            <a:r>
              <a:t>LIVE PLATFORM SYNC</a:t>
            </a:r>
          </a:p>
          <a:p>
            <a:pPr>
              <a:defRPr sz="1000">
                <a:solidFill>
                  <a:srgbClr val="94A3B8"/>
                </a:solidFill>
              </a:defRPr>
            </a:pPr>
            <a:r>
              <a:t>Website Tab:</a:t>
            </a:r>
          </a:p>
          <a:p>
            <a:pPr>
              <a:spcAft>
                <a:spcPts val="1400"/>
              </a:spcAft>
              <a:defRPr sz="1300" b="1">
                <a:solidFill>
                  <a:srgbClr val="38BDF8"/>
                </a:solidFill>
              </a:defRPr>
            </a:pPr>
            <a:r>
              <a:t>Tab 2 — Sky Radar</a:t>
            </a:r>
          </a:p>
          <a:p>
            <a:pPr>
              <a:defRPr sz="1000">
                <a:solidFill>
                  <a:srgbClr val="94A3B8"/>
                </a:solidFill>
              </a:defRPr>
            </a:pPr>
            <a:r>
              <a:t>Presenter Visual Cue:</a:t>
            </a:r>
          </a:p>
          <a:p>
            <a:pPr>
              <a:spcAft>
                <a:spcPts val="1200"/>
              </a:spcAft>
              <a:defRPr sz="1200">
                <a:solidFill>
                  <a:srgbClr val="F8FAFC"/>
                </a:solidFill>
              </a:defRPr>
            </a:pPr>
            <a:r>
              <a:t>Show Patan ground camera feed, 24 km/h optical wind vectors, and 7-Step Causal Chain.</a:t>
            </a:r>
          </a:p>
        </p:txBody>
      </p:sp>
      <p:sp>
        <p:nvSpPr>
          <p:cNvPr id="8" name="Rectangle 7"/>
          <p:cNvSpPr/>
          <p:nvPr/>
        </p:nvSpPr>
        <p:spPr>
          <a:xfrm>
            <a:off x="4663440" y="1371600"/>
            <a:ext cx="6979615" cy="356616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228600"/>
          <a:lstStyle/>
          <a:p>
            <a:pPr algn="ctr">
              <a:spcAft>
                <a:spcPts val="1200"/>
              </a:spcAft>
              <a:defRPr sz="1100" b="1">
                <a:solidFill>
                  <a:srgbClr val="F59E0B"/>
                </a:solidFill>
              </a:defRPr>
            </a:pPr>
            <a:r>
              <a:t>SPEAKER SCRIPT  (SIMPLE ENGLISH)</a:t>
            </a:r>
          </a:p>
          <a:p>
            <a:pPr>
              <a:spcBef>
                <a:spcPts val="400"/>
              </a:spcBef>
              <a:defRPr sz="1450" i="0">
                <a:solidFill>
                  <a:srgbClr val="F8FAFC"/>
                </a:solidFill>
              </a:defRPr>
            </a:pPr>
            <a:r>
              <a:t>"In our Sky Radar tab, SUNSYNC looks directly at the sky using Patan ground cameras. Computer vision software tracks incoming clouds moving at 17 to 36 kilometers per hour. Its smart 7-step system warns operators 8 minutes before cloud shadows hit the solar panels. By predicting a 14.2 megawatt drop early, our system readies battery power before any solar loss actually happens."</a:t>
            </a:r>
          </a:p>
        </p:txBody>
      </p:sp>
      <p:sp>
        <p:nvSpPr>
          <p:cNvPr id="9" name="Rectangle 8"/>
          <p:cNvSpPr/>
          <p:nvPr/>
        </p:nvSpPr>
        <p:spPr>
          <a:xfrm>
            <a:off x="548640"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17-36 km/h</a:t>
            </a:r>
          </a:p>
          <a:p>
            <a:pPr algn="ctr">
              <a:spcBef>
                <a:spcPts val="300"/>
              </a:spcBef>
              <a:defRPr sz="1000">
                <a:solidFill>
                  <a:srgbClr val="94A3B8"/>
                </a:solidFill>
              </a:defRPr>
            </a:pPr>
            <a:r>
              <a:t>Wind Vector Speed</a:t>
            </a:r>
          </a:p>
        </p:txBody>
      </p:sp>
      <p:sp>
        <p:nvSpPr>
          <p:cNvPr id="10" name="Rectangle 9"/>
          <p:cNvSpPr/>
          <p:nvPr/>
        </p:nvSpPr>
        <p:spPr>
          <a:xfrm>
            <a:off x="3364992"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8 Minutes</a:t>
            </a:r>
          </a:p>
          <a:p>
            <a:pPr algn="ctr">
              <a:spcBef>
                <a:spcPts val="300"/>
              </a:spcBef>
              <a:defRPr sz="1000">
                <a:solidFill>
                  <a:srgbClr val="94A3B8"/>
                </a:solidFill>
              </a:defRPr>
            </a:pPr>
            <a:r>
              <a:t>Advance Warning</a:t>
            </a:r>
          </a:p>
        </p:txBody>
      </p:sp>
      <p:sp>
        <p:nvSpPr>
          <p:cNvPr id="11" name="Rectangle 10"/>
          <p:cNvSpPr/>
          <p:nvPr/>
        </p:nvSpPr>
        <p:spPr>
          <a:xfrm>
            <a:off x="6181344"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-14.2 MW</a:t>
            </a:r>
          </a:p>
          <a:p>
            <a:pPr algn="ctr">
              <a:spcBef>
                <a:spcPts val="300"/>
              </a:spcBef>
              <a:defRPr sz="1000">
                <a:solidFill>
                  <a:srgbClr val="94A3B8"/>
                </a:solidFill>
              </a:defRPr>
            </a:pPr>
            <a:r>
              <a:t>Predicted Shadow Dip</a:t>
            </a:r>
          </a:p>
        </p:txBody>
      </p:sp>
      <p:sp>
        <p:nvSpPr>
          <p:cNvPr id="12" name="Rectangle 11"/>
          <p:cNvSpPr/>
          <p:nvPr/>
        </p:nvSpPr>
        <p:spPr>
          <a:xfrm>
            <a:off x="8997696"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7 Steps</a:t>
            </a:r>
          </a:p>
          <a:p>
            <a:pPr algn="ctr">
              <a:spcBef>
                <a:spcPts val="300"/>
              </a:spcBef>
              <a:defRPr sz="1000">
                <a:solidFill>
                  <a:srgbClr val="94A3B8"/>
                </a:solidFill>
              </a:defRPr>
            </a:pPr>
            <a:r>
              <a:t>Causal Chain AI</a:t>
            </a:r>
          </a:p>
        </p:txBody>
      </p:sp>
      <p:sp>
        <p:nvSpPr>
          <p:cNvPr id="13" name="TextBox 12"/>
          <p:cNvSpPr txBox="1"/>
          <p:nvPr/>
        </p:nvSpPr>
        <p:spPr>
          <a:xfrm>
            <a:off x="548640" y="6446520"/>
            <a:ext cx="11094415" cy="320040"/>
          </a:xfrm>
          <a:prstGeom prst="rect">
            <a:avLst/>
          </a:prstGeom>
          <a:noFill/>
        </p:spPr>
        <p:txBody>
          <a:bodyPr wrap="none">
            <a:spAutoFit/>
          </a:bodyPr>
          <a:lstStyle/>
          <a:p>
            <a:pPr algn="ctr">
              <a:defRPr sz="900">
                <a:solidFill>
                  <a:srgbClr val="64748B"/>
                </a:solidFill>
              </a:defRPr>
            </a:pPr>
            <a:r>
              <a:t>SUNSYNC Autonomous Grid Intelligence • (c) 2026 LUMINITY. All rights reserved.</a:t>
            </a:r>
          </a:p>
        </p:txBody>
      </p:sp>
    </p:spTree>
  </p:cSld>
  <p:clrMapOvr>
    <a:masterClrMapping/>
  </p:clrMapOvr>
  <p:transition spd="med">
    <p:push dir="l"/>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8686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10058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0F19"/>
                </a:solidFill>
              </a:defRPr>
            </a:pPr>
            <a:r>
              <a:t>SLIDE 06</a:t>
            </a:r>
          </a:p>
        </p:txBody>
      </p:sp>
      <p:sp>
        <p:nvSpPr>
          <p:cNvPr id="5" name="Rounded Rectangle 4"/>
          <p:cNvSpPr/>
          <p:nvPr/>
        </p:nvSpPr>
        <p:spPr>
          <a:xfrm>
            <a:off x="1874519" y="502920"/>
            <a:ext cx="1645920" cy="320040"/>
          </a:xfrm>
          <a:prstGeom prst="roundRect">
            <a:avLst/>
          </a:prstGeom>
          <a:solidFill>
            <a:srgbClr val="082F4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STAR: ACTION</a:t>
            </a:r>
          </a:p>
        </p:txBody>
      </p:sp>
      <p:sp>
        <p:nvSpPr>
          <p:cNvPr id="6" name="TextBox 5"/>
          <p:cNvSpPr txBox="1"/>
          <p:nvPr/>
        </p:nvSpPr>
        <p:spPr>
          <a:xfrm>
            <a:off x="3657600" y="411480"/>
            <a:ext cx="7772400" cy="457200"/>
          </a:xfrm>
          <a:prstGeom prst="rect">
            <a:avLst/>
          </a:prstGeom>
          <a:noFill/>
        </p:spPr>
        <p:txBody>
          <a:bodyPr wrap="square">
            <a:spAutoFit/>
          </a:bodyPr>
          <a:lstStyle/>
          <a:p>
            <a:pPr>
              <a:defRPr sz="1600" b="1">
                <a:solidFill>
                  <a:srgbClr val="F8FAFC"/>
                </a:solidFill>
              </a:defRPr>
            </a:pPr>
            <a:r>
              <a:t>Solar Farm Digital Twin &amp; Instant Hotspot Isolation</a:t>
            </a:r>
          </a:p>
          <a:p>
            <a:pPr>
              <a:defRPr sz="1000">
                <a:solidFill>
                  <a:srgbClr val="94A3B8"/>
                </a:solidFill>
              </a:defRPr>
            </a:pPr>
            <a:r>
              <a:t>SUNSYNC AI // Autonomous Solar Grid Intelligence • Problem Statement PS-5A</a:t>
            </a:r>
          </a:p>
        </p:txBody>
      </p:sp>
      <p:sp>
        <p:nvSpPr>
          <p:cNvPr id="7" name="Rectangle 6"/>
          <p:cNvSpPr/>
          <p:nvPr/>
        </p:nvSpPr>
        <p:spPr>
          <a:xfrm>
            <a:off x="548640" y="1371600"/>
            <a:ext cx="3931920" cy="356616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100" b="1">
                <a:solidFill>
                  <a:srgbClr val="F59E0B"/>
                </a:solidFill>
              </a:defRPr>
            </a:pPr>
            <a:r>
              <a:t>LIVE PLATFORM SYNC</a:t>
            </a:r>
          </a:p>
          <a:p>
            <a:pPr>
              <a:defRPr sz="1000">
                <a:solidFill>
                  <a:srgbClr val="94A3B8"/>
                </a:solidFill>
              </a:defRPr>
            </a:pPr>
            <a:r>
              <a:t>Website Tab:</a:t>
            </a:r>
          </a:p>
          <a:p>
            <a:pPr>
              <a:spcAft>
                <a:spcPts val="1400"/>
              </a:spcAft>
              <a:defRPr sz="1300" b="1">
                <a:solidFill>
                  <a:srgbClr val="38BDF8"/>
                </a:solidFill>
              </a:defRPr>
            </a:pPr>
            <a:r>
              <a:t>Tab 3 — Solar Farm Twin</a:t>
            </a:r>
          </a:p>
          <a:p>
            <a:pPr>
              <a:defRPr sz="1000">
                <a:solidFill>
                  <a:srgbClr val="94A3B8"/>
                </a:solidFill>
              </a:defRPr>
            </a:pPr>
            <a:r>
              <a:t>Presenter Visual Cue:</a:t>
            </a:r>
          </a:p>
          <a:p>
            <a:pPr>
              <a:spcAft>
                <a:spcPts val="1200"/>
              </a:spcAft>
              <a:defRPr sz="1200">
                <a:solidFill>
                  <a:srgbClr val="F8FAFC"/>
                </a:solidFill>
              </a:defRPr>
            </a:pPr>
            <a:r>
              <a:t>Move 24-hr day/night slider, show 0 kW night standby, and trigger Inverter 14 arc fault.</a:t>
            </a:r>
          </a:p>
        </p:txBody>
      </p:sp>
      <p:sp>
        <p:nvSpPr>
          <p:cNvPr id="8" name="Rectangle 7"/>
          <p:cNvSpPr/>
          <p:nvPr/>
        </p:nvSpPr>
        <p:spPr>
          <a:xfrm>
            <a:off x="4663440" y="1371600"/>
            <a:ext cx="6979615" cy="356616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228600"/>
          <a:lstStyle/>
          <a:p>
            <a:pPr algn="ctr">
              <a:spcAft>
                <a:spcPts val="1200"/>
              </a:spcAft>
              <a:defRPr sz="1100" b="1">
                <a:solidFill>
                  <a:srgbClr val="F59E0B"/>
                </a:solidFill>
              </a:defRPr>
            </a:pPr>
            <a:r>
              <a:t>SPEAKER SCRIPT  (SIMPLE ENGLISH)</a:t>
            </a:r>
          </a:p>
          <a:p>
            <a:pPr>
              <a:spcBef>
                <a:spcPts val="400"/>
              </a:spcBef>
              <a:defRPr sz="1450" i="0">
                <a:solidFill>
                  <a:srgbClr val="F8FAFC"/>
                </a:solidFill>
              </a:defRPr>
            </a:pPr>
            <a:r>
              <a:t>"Our Solar Farm Twin monitors all 32 central inverters in Charanka. We built a 24-hour time slider to see real day and night operations. At night, all inverters sleep safely at zero kilowatts and 24 degrees Celsius. During the day, thermal sensors watch panel heat. When Inverter 14 showed an 88.5 degree hotspot, circuit breaker CB-14 isolated the line instantly to prevent equipment fire."</a:t>
            </a:r>
          </a:p>
        </p:txBody>
      </p:sp>
      <p:sp>
        <p:nvSpPr>
          <p:cNvPr id="9" name="Rectangle 8"/>
          <p:cNvSpPr/>
          <p:nvPr/>
        </p:nvSpPr>
        <p:spPr>
          <a:xfrm>
            <a:off x="548640"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24-Hr</a:t>
            </a:r>
          </a:p>
          <a:p>
            <a:pPr algn="ctr">
              <a:spcBef>
                <a:spcPts val="300"/>
              </a:spcBef>
              <a:defRPr sz="1000">
                <a:solidFill>
                  <a:srgbClr val="94A3B8"/>
                </a:solidFill>
              </a:defRPr>
            </a:pPr>
            <a:r>
              <a:t>Diurnal Slider</a:t>
            </a:r>
          </a:p>
        </p:txBody>
      </p:sp>
      <p:sp>
        <p:nvSpPr>
          <p:cNvPr id="10" name="Rectangle 9"/>
          <p:cNvSpPr/>
          <p:nvPr/>
        </p:nvSpPr>
        <p:spPr>
          <a:xfrm>
            <a:off x="3364992"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0.00 kW</a:t>
            </a:r>
          </a:p>
          <a:p>
            <a:pPr algn="ctr">
              <a:spcBef>
                <a:spcPts val="300"/>
              </a:spcBef>
              <a:defRPr sz="1000">
                <a:solidFill>
                  <a:srgbClr val="94A3B8"/>
                </a:solidFill>
              </a:defRPr>
            </a:pPr>
            <a:r>
              <a:t>Night Sleep (24°C)</a:t>
            </a:r>
          </a:p>
        </p:txBody>
      </p:sp>
      <p:sp>
        <p:nvSpPr>
          <p:cNvPr id="11" name="Rectangle 10"/>
          <p:cNvSpPr/>
          <p:nvPr/>
        </p:nvSpPr>
        <p:spPr>
          <a:xfrm>
            <a:off x="6181344"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88.5 °C</a:t>
            </a:r>
          </a:p>
          <a:p>
            <a:pPr algn="ctr">
              <a:spcBef>
                <a:spcPts val="300"/>
              </a:spcBef>
              <a:defRPr sz="1000">
                <a:solidFill>
                  <a:srgbClr val="94A3B8"/>
                </a:solidFill>
              </a:defRPr>
            </a:pPr>
            <a:r>
              <a:t>Hotspot Alarm</a:t>
            </a:r>
          </a:p>
        </p:txBody>
      </p:sp>
      <p:sp>
        <p:nvSpPr>
          <p:cNvPr id="12" name="Rectangle 11"/>
          <p:cNvSpPr/>
          <p:nvPr/>
        </p:nvSpPr>
        <p:spPr>
          <a:xfrm>
            <a:off x="8997696"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CB-14</a:t>
            </a:r>
          </a:p>
          <a:p>
            <a:pPr algn="ctr">
              <a:spcBef>
                <a:spcPts val="300"/>
              </a:spcBef>
              <a:defRPr sz="1000">
                <a:solidFill>
                  <a:srgbClr val="94A3B8"/>
                </a:solidFill>
              </a:defRPr>
            </a:pPr>
            <a:r>
              <a:t>Sub-Sec Line Cut</a:t>
            </a:r>
          </a:p>
        </p:txBody>
      </p:sp>
      <p:sp>
        <p:nvSpPr>
          <p:cNvPr id="13" name="TextBox 12"/>
          <p:cNvSpPr txBox="1"/>
          <p:nvPr/>
        </p:nvSpPr>
        <p:spPr>
          <a:xfrm>
            <a:off x="548640" y="6446520"/>
            <a:ext cx="11094415" cy="320040"/>
          </a:xfrm>
          <a:prstGeom prst="rect">
            <a:avLst/>
          </a:prstGeom>
          <a:noFill/>
        </p:spPr>
        <p:txBody>
          <a:bodyPr wrap="none">
            <a:spAutoFit/>
          </a:bodyPr>
          <a:lstStyle/>
          <a:p>
            <a:pPr algn="ctr">
              <a:defRPr sz="900">
                <a:solidFill>
                  <a:srgbClr val="64748B"/>
                </a:solidFill>
              </a:defRPr>
            </a:pPr>
            <a:r>
              <a:t>SUNSYNC Autonomous Grid Intelligence • (c) 2026 LUMINITY. All rights reserved.</a:t>
            </a:r>
          </a:p>
        </p:txBody>
      </p:sp>
    </p:spTree>
  </p:cSld>
  <p:clrMapOvr>
    <a:masterClrMapping/>
  </p:clrMapOvr>
  <p:transition spd="med">
    <p:push dir="l"/>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8686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10058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0F19"/>
                </a:solidFill>
              </a:defRPr>
            </a:pPr>
            <a:r>
              <a:t>SLIDE 07</a:t>
            </a:r>
          </a:p>
        </p:txBody>
      </p:sp>
      <p:sp>
        <p:nvSpPr>
          <p:cNvPr id="5" name="Rounded Rectangle 4"/>
          <p:cNvSpPr/>
          <p:nvPr/>
        </p:nvSpPr>
        <p:spPr>
          <a:xfrm>
            <a:off x="1874519" y="502920"/>
            <a:ext cx="1645920" cy="320040"/>
          </a:xfrm>
          <a:prstGeom prst="roundRect">
            <a:avLst/>
          </a:prstGeom>
          <a:solidFill>
            <a:srgbClr val="082F4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STAR: ACTION</a:t>
            </a:r>
          </a:p>
        </p:txBody>
      </p:sp>
      <p:sp>
        <p:nvSpPr>
          <p:cNvPr id="6" name="TextBox 5"/>
          <p:cNvSpPr txBox="1"/>
          <p:nvPr/>
        </p:nvSpPr>
        <p:spPr>
          <a:xfrm>
            <a:off x="3657600" y="411480"/>
            <a:ext cx="7772400" cy="457200"/>
          </a:xfrm>
          <a:prstGeom prst="rect">
            <a:avLst/>
          </a:prstGeom>
          <a:noFill/>
        </p:spPr>
        <p:txBody>
          <a:bodyPr wrap="square">
            <a:spAutoFit/>
          </a:bodyPr>
          <a:lstStyle/>
          <a:p>
            <a:pPr>
              <a:defRPr sz="1600" b="1">
                <a:solidFill>
                  <a:srgbClr val="F8FAFC"/>
                </a:solidFill>
              </a:defRPr>
            </a:pPr>
            <a:r>
              <a:t>Time Machine &amp; Physics-Informed Neural Network (PINN)</a:t>
            </a:r>
          </a:p>
          <a:p>
            <a:pPr>
              <a:defRPr sz="1000">
                <a:solidFill>
                  <a:srgbClr val="94A3B8"/>
                </a:solidFill>
              </a:defRPr>
            </a:pPr>
            <a:r>
              <a:t>SUNSYNC AI // Autonomous Solar Grid Intelligence • Problem Statement PS-5A</a:t>
            </a:r>
          </a:p>
        </p:txBody>
      </p:sp>
      <p:sp>
        <p:nvSpPr>
          <p:cNvPr id="7" name="Rectangle 6"/>
          <p:cNvSpPr/>
          <p:nvPr/>
        </p:nvSpPr>
        <p:spPr>
          <a:xfrm>
            <a:off x="548640" y="1371600"/>
            <a:ext cx="3931920" cy="356616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100" b="1">
                <a:solidFill>
                  <a:srgbClr val="F59E0B"/>
                </a:solidFill>
              </a:defRPr>
            </a:pPr>
            <a:r>
              <a:t>LIVE PLATFORM SYNC</a:t>
            </a:r>
          </a:p>
          <a:p>
            <a:pPr>
              <a:defRPr sz="1000">
                <a:solidFill>
                  <a:srgbClr val="94A3B8"/>
                </a:solidFill>
              </a:defRPr>
            </a:pPr>
            <a:r>
              <a:t>Website Tab:</a:t>
            </a:r>
          </a:p>
          <a:p>
            <a:pPr>
              <a:spcAft>
                <a:spcPts val="1400"/>
              </a:spcAft>
              <a:defRPr sz="1300" b="1">
                <a:solidFill>
                  <a:srgbClr val="38BDF8"/>
                </a:solidFill>
              </a:defRPr>
            </a:pPr>
            <a:r>
              <a:t>Tab 4 — Time Machine &amp; PINN Formula Card</a:t>
            </a:r>
          </a:p>
          <a:p>
            <a:pPr>
              <a:defRPr sz="1000">
                <a:solidFill>
                  <a:srgbClr val="94A3B8"/>
                </a:solidFill>
              </a:defRPr>
            </a:pPr>
            <a:r>
              <a:t>Presenter Visual Cue:</a:t>
            </a:r>
          </a:p>
          <a:p>
            <a:pPr>
              <a:spcAft>
                <a:spcPts val="1200"/>
              </a:spcAft>
              <a:defRPr sz="1200">
                <a:solidFill>
                  <a:srgbClr val="F8FAFC"/>
                </a:solidFill>
              </a:defRPr>
            </a:pPr>
            <a:r>
              <a:t>Click +30m, +60m, +120m lookahead buttons and explain clear-sky energy bounds.</a:t>
            </a:r>
          </a:p>
        </p:txBody>
      </p:sp>
      <p:sp>
        <p:nvSpPr>
          <p:cNvPr id="8" name="Rectangle 7"/>
          <p:cNvSpPr/>
          <p:nvPr/>
        </p:nvSpPr>
        <p:spPr>
          <a:xfrm>
            <a:off x="4663440" y="1371600"/>
            <a:ext cx="6979615" cy="356616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228600"/>
          <a:lstStyle/>
          <a:p>
            <a:pPr algn="ctr">
              <a:spcAft>
                <a:spcPts val="1200"/>
              </a:spcAft>
              <a:defRPr sz="1100" b="1">
                <a:solidFill>
                  <a:srgbClr val="F59E0B"/>
                </a:solidFill>
              </a:defRPr>
            </a:pPr>
            <a:r>
              <a:t>SPEAKER SCRIPT  (SIMPLE ENGLISH)</a:t>
            </a:r>
          </a:p>
          <a:p>
            <a:pPr>
              <a:spcBef>
                <a:spcPts val="400"/>
              </a:spcBef>
              <a:defRPr sz="1450" i="0">
                <a:solidFill>
                  <a:srgbClr val="F8FAFC"/>
                </a:solidFill>
              </a:defRPr>
            </a:pPr>
            <a:r>
              <a:t>"Our Time Machine looks up to 120 minutes ahead using a Physics-Informed Neural Network. Typical AI models hallucinate sunshine at midnight, but SUNSYNC locks predictions within true clear-sky limits and forces power to zero after sunset. When an 18.4 megawatt afternoon drop is forecasted, our system prepares clean battery reserves, avoiding expensive gas peakers and saving ₹1.28 lakhs every single hour."</a:t>
            </a:r>
          </a:p>
        </p:txBody>
      </p:sp>
      <p:sp>
        <p:nvSpPr>
          <p:cNvPr id="9" name="Rectangle 8"/>
          <p:cNvSpPr/>
          <p:nvPr/>
        </p:nvSpPr>
        <p:spPr>
          <a:xfrm>
            <a:off x="548640"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+120 Min</a:t>
            </a:r>
          </a:p>
          <a:p>
            <a:pPr algn="ctr">
              <a:spcBef>
                <a:spcPts val="300"/>
              </a:spcBef>
              <a:defRPr sz="1000">
                <a:solidFill>
                  <a:srgbClr val="94A3B8"/>
                </a:solidFill>
              </a:defRPr>
            </a:pPr>
            <a:r>
              <a:t>Lookahead Horizon</a:t>
            </a:r>
          </a:p>
        </p:txBody>
      </p:sp>
      <p:sp>
        <p:nvSpPr>
          <p:cNvPr id="10" name="Rectangle 9"/>
          <p:cNvSpPr/>
          <p:nvPr/>
        </p:nvSpPr>
        <p:spPr>
          <a:xfrm>
            <a:off x="3364992"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-18.4 MW</a:t>
            </a:r>
          </a:p>
          <a:p>
            <a:pPr algn="ctr">
              <a:spcBef>
                <a:spcPts val="300"/>
              </a:spcBef>
              <a:defRPr sz="1000">
                <a:solidFill>
                  <a:srgbClr val="94A3B8"/>
                </a:solidFill>
              </a:defRPr>
            </a:pPr>
            <a:r>
              <a:t>Anticipated Dip</a:t>
            </a:r>
          </a:p>
        </p:txBody>
      </p:sp>
      <p:sp>
        <p:nvSpPr>
          <p:cNvPr id="11" name="Rectangle 10"/>
          <p:cNvSpPr/>
          <p:nvPr/>
        </p:nvSpPr>
        <p:spPr>
          <a:xfrm>
            <a:off x="6181344"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0.00 %</a:t>
            </a:r>
          </a:p>
          <a:p>
            <a:pPr algn="ctr">
              <a:spcBef>
                <a:spcPts val="300"/>
              </a:spcBef>
              <a:defRPr sz="1000">
                <a:solidFill>
                  <a:srgbClr val="94A3B8"/>
                </a:solidFill>
              </a:defRPr>
            </a:pPr>
            <a:r>
              <a:t>Night Hallucination</a:t>
            </a:r>
          </a:p>
        </p:txBody>
      </p:sp>
      <p:sp>
        <p:nvSpPr>
          <p:cNvPr id="12" name="Rectangle 11"/>
          <p:cNvSpPr/>
          <p:nvPr/>
        </p:nvSpPr>
        <p:spPr>
          <a:xfrm>
            <a:off x="8997696"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₹1.28 L/hr</a:t>
            </a:r>
          </a:p>
          <a:p>
            <a:pPr algn="ctr">
              <a:spcBef>
                <a:spcPts val="300"/>
              </a:spcBef>
              <a:defRPr sz="1000">
                <a:solidFill>
                  <a:srgbClr val="94A3B8"/>
                </a:solidFill>
              </a:defRPr>
            </a:pPr>
            <a:r>
              <a:t>Avoided Peaker Cost</a:t>
            </a:r>
          </a:p>
        </p:txBody>
      </p:sp>
      <p:sp>
        <p:nvSpPr>
          <p:cNvPr id="13" name="TextBox 12"/>
          <p:cNvSpPr txBox="1"/>
          <p:nvPr/>
        </p:nvSpPr>
        <p:spPr>
          <a:xfrm>
            <a:off x="548640" y="6446520"/>
            <a:ext cx="11094415" cy="320040"/>
          </a:xfrm>
          <a:prstGeom prst="rect">
            <a:avLst/>
          </a:prstGeom>
          <a:noFill/>
        </p:spPr>
        <p:txBody>
          <a:bodyPr wrap="none">
            <a:spAutoFit/>
          </a:bodyPr>
          <a:lstStyle/>
          <a:p>
            <a:pPr algn="ctr">
              <a:defRPr sz="900">
                <a:solidFill>
                  <a:srgbClr val="64748B"/>
                </a:solidFill>
              </a:defRPr>
            </a:pPr>
            <a:r>
              <a:t>SUNSYNC Autonomous Grid Intelligence • (c) 2026 LUMINITY. All rights reserved.</a:t>
            </a:r>
          </a:p>
        </p:txBody>
      </p:sp>
    </p:spTree>
  </p:cSld>
  <p:clrMapOvr>
    <a:masterClrMapping/>
  </p:clrMapOvr>
  <p:transition spd="med">
    <p:push dir="l"/>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8686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10058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0F19"/>
                </a:solidFill>
              </a:defRPr>
            </a:pPr>
            <a:r>
              <a:t>SLIDE 08</a:t>
            </a:r>
          </a:p>
        </p:txBody>
      </p:sp>
      <p:sp>
        <p:nvSpPr>
          <p:cNvPr id="5" name="Rounded Rectangle 4"/>
          <p:cNvSpPr/>
          <p:nvPr/>
        </p:nvSpPr>
        <p:spPr>
          <a:xfrm>
            <a:off x="1874519" y="502920"/>
            <a:ext cx="1645920" cy="320040"/>
          </a:xfrm>
          <a:prstGeom prst="roundRect">
            <a:avLst/>
          </a:prstGeom>
          <a:solidFill>
            <a:srgbClr val="082F4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STAR: ACTION</a:t>
            </a:r>
          </a:p>
        </p:txBody>
      </p:sp>
      <p:sp>
        <p:nvSpPr>
          <p:cNvPr id="6" name="TextBox 5"/>
          <p:cNvSpPr txBox="1"/>
          <p:nvPr/>
        </p:nvSpPr>
        <p:spPr>
          <a:xfrm>
            <a:off x="3657600" y="411480"/>
            <a:ext cx="7772400" cy="457200"/>
          </a:xfrm>
          <a:prstGeom prst="rect">
            <a:avLst/>
          </a:prstGeom>
          <a:noFill/>
        </p:spPr>
        <p:txBody>
          <a:bodyPr wrap="square">
            <a:spAutoFit/>
          </a:bodyPr>
          <a:lstStyle/>
          <a:p>
            <a:pPr>
              <a:defRPr sz="1600" b="1">
                <a:solidFill>
                  <a:srgbClr val="F8FAFC"/>
                </a:solidFill>
              </a:defRPr>
            </a:pPr>
            <a:r>
              <a:t>Sub-Cycle 118 Millisecond BESS Dispatch &amp; Frequency Lock</a:t>
            </a:r>
          </a:p>
          <a:p>
            <a:pPr>
              <a:defRPr sz="1000">
                <a:solidFill>
                  <a:srgbClr val="94A3B8"/>
                </a:solidFill>
              </a:defRPr>
            </a:pPr>
            <a:r>
              <a:t>SUNSYNC AI // Autonomous Solar Grid Intelligence • Problem Statement PS-5A</a:t>
            </a:r>
          </a:p>
        </p:txBody>
      </p:sp>
      <p:sp>
        <p:nvSpPr>
          <p:cNvPr id="7" name="Rectangle 6"/>
          <p:cNvSpPr/>
          <p:nvPr/>
        </p:nvSpPr>
        <p:spPr>
          <a:xfrm>
            <a:off x="548640" y="1371600"/>
            <a:ext cx="3931920" cy="356616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100" b="1">
                <a:solidFill>
                  <a:srgbClr val="F59E0B"/>
                </a:solidFill>
              </a:defRPr>
            </a:pPr>
            <a:r>
              <a:t>LIVE PLATFORM SYNC</a:t>
            </a:r>
          </a:p>
          <a:p>
            <a:pPr>
              <a:defRPr sz="1000">
                <a:solidFill>
                  <a:srgbClr val="94A3B8"/>
                </a:solidFill>
              </a:defRPr>
            </a:pPr>
            <a:r>
              <a:t>Website Tab:</a:t>
            </a:r>
          </a:p>
          <a:p>
            <a:pPr>
              <a:spcAft>
                <a:spcPts val="1400"/>
              </a:spcAft>
              <a:defRPr sz="1300" b="1">
                <a:solidFill>
                  <a:srgbClr val="38BDF8"/>
                </a:solidFill>
              </a:defRPr>
            </a:pPr>
            <a:r>
              <a:t>60 MWh BESS SCADA Controller &amp; Frequency Stabilizer</a:t>
            </a:r>
          </a:p>
          <a:p>
            <a:pPr>
              <a:defRPr sz="1000">
                <a:solidFill>
                  <a:srgbClr val="94A3B8"/>
                </a:solidFill>
              </a:defRPr>
            </a:pPr>
            <a:r>
              <a:t>Presenter Visual Cue:</a:t>
            </a:r>
          </a:p>
          <a:p>
            <a:pPr>
              <a:spcAft>
                <a:spcPts val="1200"/>
              </a:spcAft>
              <a:defRPr sz="1200">
                <a:solidFill>
                  <a:srgbClr val="F8FAFC"/>
                </a:solidFill>
              </a:defRPr>
            </a:pPr>
            <a:r>
              <a:t>Highlight 118ms reaction speed counter, +28.4 MW power injection, and IEGC limits.</a:t>
            </a:r>
          </a:p>
        </p:txBody>
      </p:sp>
      <p:sp>
        <p:nvSpPr>
          <p:cNvPr id="8" name="Rectangle 7"/>
          <p:cNvSpPr/>
          <p:nvPr/>
        </p:nvSpPr>
        <p:spPr>
          <a:xfrm>
            <a:off x="4663440" y="1371600"/>
            <a:ext cx="6979615" cy="356616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228600"/>
          <a:lstStyle/>
          <a:p>
            <a:pPr algn="ctr">
              <a:spcAft>
                <a:spcPts val="1200"/>
              </a:spcAft>
              <a:defRPr sz="1100" b="1">
                <a:solidFill>
                  <a:srgbClr val="F59E0B"/>
                </a:solidFill>
              </a:defRPr>
            </a:pPr>
            <a:r>
              <a:t>SPEAKER SCRIPT  (SIMPLE ENGLISH)</a:t>
            </a:r>
          </a:p>
          <a:p>
            <a:pPr>
              <a:spcBef>
                <a:spcPts val="400"/>
              </a:spcBef>
              <a:defRPr sz="1450" i="0">
                <a:solidFill>
                  <a:srgbClr val="F8FAFC"/>
                </a:solidFill>
              </a:defRPr>
            </a:pPr>
            <a:r>
              <a:t>"When clouds cover solar panels, the grid needs instant power. Gas turbines take 15 minutes to start, but SUNSYNC's 60 megawatt-hour battery system fires in just 118 milliseconds. It immediately injects up to 28.4 megawatts of clean electricity into the wires. This holds grid frequency steady at 50.01 Hertz, safely inside India's strict legal band between 49.90 and 50.05 Hertz."</a:t>
            </a:r>
          </a:p>
        </p:txBody>
      </p:sp>
      <p:sp>
        <p:nvSpPr>
          <p:cNvPr id="9" name="Rectangle 8"/>
          <p:cNvSpPr/>
          <p:nvPr/>
        </p:nvSpPr>
        <p:spPr>
          <a:xfrm>
            <a:off x="548640"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60 MWh</a:t>
            </a:r>
          </a:p>
          <a:p>
            <a:pPr algn="ctr">
              <a:spcBef>
                <a:spcPts val="300"/>
              </a:spcBef>
              <a:defRPr sz="1000">
                <a:solidFill>
                  <a:srgbClr val="94A3B8"/>
                </a:solidFill>
              </a:defRPr>
            </a:pPr>
            <a:r>
              <a:t>BESS Capacity</a:t>
            </a:r>
          </a:p>
        </p:txBody>
      </p:sp>
      <p:sp>
        <p:nvSpPr>
          <p:cNvPr id="10" name="Rectangle 9"/>
          <p:cNvSpPr/>
          <p:nvPr/>
        </p:nvSpPr>
        <p:spPr>
          <a:xfrm>
            <a:off x="3364992"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118 ms</a:t>
            </a:r>
          </a:p>
          <a:p>
            <a:pPr algn="ctr">
              <a:spcBef>
                <a:spcPts val="300"/>
              </a:spcBef>
              <a:defRPr sz="1000">
                <a:solidFill>
                  <a:srgbClr val="94A3B8"/>
                </a:solidFill>
              </a:defRPr>
            </a:pPr>
            <a:r>
              <a:t>Reaction Latency</a:t>
            </a:r>
          </a:p>
        </p:txBody>
      </p:sp>
      <p:sp>
        <p:nvSpPr>
          <p:cNvPr id="11" name="Rectangle 10"/>
          <p:cNvSpPr/>
          <p:nvPr/>
        </p:nvSpPr>
        <p:spPr>
          <a:xfrm>
            <a:off x="6181344"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+28.4 MW</a:t>
            </a:r>
          </a:p>
          <a:p>
            <a:pPr algn="ctr">
              <a:spcBef>
                <a:spcPts val="300"/>
              </a:spcBef>
              <a:defRPr sz="1000">
                <a:solidFill>
                  <a:srgbClr val="94A3B8"/>
                </a:solidFill>
              </a:defRPr>
            </a:pPr>
            <a:r>
              <a:t>Instant Injection</a:t>
            </a:r>
          </a:p>
        </p:txBody>
      </p:sp>
      <p:sp>
        <p:nvSpPr>
          <p:cNvPr id="12" name="Rectangle 11"/>
          <p:cNvSpPr/>
          <p:nvPr/>
        </p:nvSpPr>
        <p:spPr>
          <a:xfrm>
            <a:off x="8997696"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49.90-50.05</a:t>
            </a:r>
          </a:p>
          <a:p>
            <a:pPr algn="ctr">
              <a:spcBef>
                <a:spcPts val="300"/>
              </a:spcBef>
              <a:defRPr sz="1000">
                <a:solidFill>
                  <a:srgbClr val="94A3B8"/>
                </a:solidFill>
              </a:defRPr>
            </a:pPr>
            <a:r>
              <a:t>IEGC Band (Hz)</a:t>
            </a:r>
          </a:p>
        </p:txBody>
      </p:sp>
      <p:sp>
        <p:nvSpPr>
          <p:cNvPr id="13" name="TextBox 12"/>
          <p:cNvSpPr txBox="1"/>
          <p:nvPr/>
        </p:nvSpPr>
        <p:spPr>
          <a:xfrm>
            <a:off x="548640" y="6446520"/>
            <a:ext cx="11094415" cy="320040"/>
          </a:xfrm>
          <a:prstGeom prst="rect">
            <a:avLst/>
          </a:prstGeom>
          <a:noFill/>
        </p:spPr>
        <p:txBody>
          <a:bodyPr wrap="none">
            <a:spAutoFit/>
          </a:bodyPr>
          <a:lstStyle/>
          <a:p>
            <a:pPr algn="ctr">
              <a:defRPr sz="900">
                <a:solidFill>
                  <a:srgbClr val="64748B"/>
                </a:solidFill>
              </a:defRPr>
            </a:pPr>
            <a:r>
              <a:t>SUNSYNC Autonomous Grid Intelligence • (c) 2026 LUMINITY. All rights reserved.</a:t>
            </a:r>
          </a:p>
        </p:txBody>
      </p:sp>
    </p:spTree>
  </p:cSld>
  <p:clrMapOvr>
    <a:masterClrMapping/>
  </p:clrMapOvr>
  <p:transition spd="med">
    <p:push dir="l"/>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8686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10058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0F19"/>
                </a:solidFill>
              </a:defRPr>
            </a:pPr>
            <a:r>
              <a:t>SLIDE 09</a:t>
            </a:r>
          </a:p>
        </p:txBody>
      </p:sp>
      <p:sp>
        <p:nvSpPr>
          <p:cNvPr id="5" name="Rounded Rectangle 4"/>
          <p:cNvSpPr/>
          <p:nvPr/>
        </p:nvSpPr>
        <p:spPr>
          <a:xfrm>
            <a:off x="1874519" y="502920"/>
            <a:ext cx="1645920" cy="320040"/>
          </a:xfrm>
          <a:prstGeom prst="roundRect">
            <a:avLst/>
          </a:prstGeom>
          <a:solidFill>
            <a:srgbClr val="082F4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STAR: RESULT</a:t>
            </a:r>
          </a:p>
        </p:txBody>
      </p:sp>
      <p:sp>
        <p:nvSpPr>
          <p:cNvPr id="6" name="TextBox 5"/>
          <p:cNvSpPr txBox="1"/>
          <p:nvPr/>
        </p:nvSpPr>
        <p:spPr>
          <a:xfrm>
            <a:off x="3657600" y="411480"/>
            <a:ext cx="7772400" cy="457200"/>
          </a:xfrm>
          <a:prstGeom prst="rect">
            <a:avLst/>
          </a:prstGeom>
          <a:noFill/>
        </p:spPr>
        <p:txBody>
          <a:bodyPr wrap="square">
            <a:spAutoFit/>
          </a:bodyPr>
          <a:lstStyle/>
          <a:p>
            <a:pPr>
              <a:defRPr sz="1600" b="1">
                <a:solidFill>
                  <a:srgbClr val="F8FAFC"/>
                </a:solidFill>
              </a:defRPr>
            </a:pPr>
            <a:r>
              <a:t>Adversarial Benchmarks, Data Laboratory &amp; AI Copilot</a:t>
            </a:r>
          </a:p>
          <a:p>
            <a:pPr>
              <a:defRPr sz="1000">
                <a:solidFill>
                  <a:srgbClr val="94A3B8"/>
                </a:solidFill>
              </a:defRPr>
            </a:pPr>
            <a:r>
              <a:t>SUNSYNC AI // Autonomous Solar Grid Intelligence • Problem Statement PS-5A</a:t>
            </a:r>
          </a:p>
        </p:txBody>
      </p:sp>
      <p:sp>
        <p:nvSpPr>
          <p:cNvPr id="7" name="Rectangle 6"/>
          <p:cNvSpPr/>
          <p:nvPr/>
        </p:nvSpPr>
        <p:spPr>
          <a:xfrm>
            <a:off x="548640" y="1371600"/>
            <a:ext cx="3931920" cy="356616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100" b="1">
                <a:solidFill>
                  <a:srgbClr val="F59E0B"/>
                </a:solidFill>
              </a:defRPr>
            </a:pPr>
            <a:r>
              <a:t>LIVE PLATFORM SYNC</a:t>
            </a:r>
          </a:p>
          <a:p>
            <a:pPr>
              <a:defRPr sz="1000">
                <a:solidFill>
                  <a:srgbClr val="94A3B8"/>
                </a:solidFill>
              </a:defRPr>
            </a:pPr>
            <a:r>
              <a:t>Website Tab:</a:t>
            </a:r>
          </a:p>
          <a:p>
            <a:pPr>
              <a:spcAft>
                <a:spcPts val="1400"/>
              </a:spcAft>
              <a:defRPr sz="1300" b="1">
                <a:solidFill>
                  <a:srgbClr val="38BDF8"/>
                </a:solidFill>
              </a:defRPr>
            </a:pPr>
            <a:r>
              <a:t>Tabs 5, 6 &amp; 7 — Adversarial Lab, Data Lab &amp; AI Copilot</a:t>
            </a:r>
          </a:p>
          <a:p>
            <a:pPr>
              <a:defRPr sz="1000">
                <a:solidFill>
                  <a:srgbClr val="94A3B8"/>
                </a:solidFill>
              </a:defRPr>
            </a:pPr>
            <a:r>
              <a:t>Presenter Visual Cue:</a:t>
            </a:r>
          </a:p>
          <a:p>
            <a:pPr>
              <a:spcAft>
                <a:spcPts val="1200"/>
              </a:spcAft>
              <a:defRPr sz="1200">
                <a:solidFill>
                  <a:srgbClr val="F8FAFC"/>
                </a:solidFill>
              </a:defRPr>
            </a:pPr>
            <a:r>
              <a:t>Show #1 benchmark rank (4.12 MW RMSE), Data Lab error diffs, and Copilot live response.</a:t>
            </a:r>
          </a:p>
        </p:txBody>
      </p:sp>
      <p:sp>
        <p:nvSpPr>
          <p:cNvPr id="8" name="Rectangle 7"/>
          <p:cNvSpPr/>
          <p:nvPr/>
        </p:nvSpPr>
        <p:spPr>
          <a:xfrm>
            <a:off x="4663440" y="1371600"/>
            <a:ext cx="6979615" cy="356616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228600"/>
          <a:lstStyle/>
          <a:p>
            <a:pPr algn="ctr">
              <a:spcAft>
                <a:spcPts val="1200"/>
              </a:spcAft>
              <a:defRPr sz="1100" b="1">
                <a:solidFill>
                  <a:srgbClr val="F59E0B"/>
                </a:solidFill>
              </a:defRPr>
            </a:pPr>
            <a:r>
              <a:t>SPEAKER SCRIPT  (SIMPLE ENGLISH)</a:t>
            </a:r>
          </a:p>
          <a:p>
            <a:pPr>
              <a:spcBef>
                <a:spcPts val="400"/>
              </a:spcBef>
              <a:defRPr sz="1450" i="0">
                <a:solidFill>
                  <a:srgbClr val="F8FAFC"/>
                </a:solidFill>
              </a:defRPr>
            </a:pPr>
            <a:r>
              <a:t>"In benchmark tests, SUNSYNC achieved a low 4.12 megawatt error and a 3.42% MAPE, outperforming legacy grid models by over 60%. It withstood dust storms and fake cyber attacks with zero crashes. Operators can also interact with our built-in AI Copilot across three roles: Dispatcher, Owner, and Auditor. It speaks both English and Gujarati, giving instant SCADA telemetry and battery answers in half a second."</a:t>
            </a:r>
          </a:p>
        </p:txBody>
      </p:sp>
      <p:sp>
        <p:nvSpPr>
          <p:cNvPr id="9" name="Rectangle 8"/>
          <p:cNvSpPr/>
          <p:nvPr/>
        </p:nvSpPr>
        <p:spPr>
          <a:xfrm>
            <a:off x="548640"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4.12 MW</a:t>
            </a:r>
          </a:p>
          <a:p>
            <a:pPr algn="ctr">
              <a:spcBef>
                <a:spcPts val="300"/>
              </a:spcBef>
              <a:defRPr sz="1000">
                <a:solidFill>
                  <a:srgbClr val="94A3B8"/>
                </a:solidFill>
              </a:defRPr>
            </a:pPr>
            <a:r>
              <a:t>RMSE Benchmark</a:t>
            </a:r>
          </a:p>
        </p:txBody>
      </p:sp>
      <p:sp>
        <p:nvSpPr>
          <p:cNvPr id="10" name="Rectangle 9"/>
          <p:cNvSpPr/>
          <p:nvPr/>
        </p:nvSpPr>
        <p:spPr>
          <a:xfrm>
            <a:off x="3364992"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3.42 %</a:t>
            </a:r>
          </a:p>
          <a:p>
            <a:pPr algn="ctr">
              <a:spcBef>
                <a:spcPts val="300"/>
              </a:spcBef>
              <a:defRPr sz="1000">
                <a:solidFill>
                  <a:srgbClr val="94A3B8"/>
                </a:solidFill>
              </a:defRPr>
            </a:pPr>
            <a:r>
              <a:t>MAPE Accuracy</a:t>
            </a:r>
          </a:p>
        </p:txBody>
      </p:sp>
      <p:sp>
        <p:nvSpPr>
          <p:cNvPr id="11" name="Rectangle 10"/>
          <p:cNvSpPr/>
          <p:nvPr/>
        </p:nvSpPr>
        <p:spPr>
          <a:xfrm>
            <a:off x="6181344"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&gt; 60 %</a:t>
            </a:r>
          </a:p>
          <a:p>
            <a:pPr algn="ctr">
              <a:spcBef>
                <a:spcPts val="300"/>
              </a:spcBef>
              <a:defRPr sz="1000">
                <a:solidFill>
                  <a:srgbClr val="94A3B8"/>
                </a:solidFill>
              </a:defRPr>
            </a:pPr>
            <a:r>
              <a:t>Gain vs Legacy</a:t>
            </a:r>
          </a:p>
        </p:txBody>
      </p:sp>
      <p:sp>
        <p:nvSpPr>
          <p:cNvPr id="12" name="Rectangle 11"/>
          <p:cNvSpPr/>
          <p:nvPr/>
        </p:nvSpPr>
        <p:spPr>
          <a:xfrm>
            <a:off x="8997696"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3 Personas</a:t>
            </a:r>
          </a:p>
          <a:p>
            <a:pPr algn="ctr">
              <a:spcBef>
                <a:spcPts val="300"/>
              </a:spcBef>
              <a:defRPr sz="1000">
                <a:solidFill>
                  <a:srgbClr val="94A3B8"/>
                </a:solidFill>
              </a:defRPr>
            </a:pPr>
            <a:r>
              <a:t>Dual-Lang Copilot</a:t>
            </a:r>
          </a:p>
        </p:txBody>
      </p:sp>
      <p:sp>
        <p:nvSpPr>
          <p:cNvPr id="13" name="TextBox 12"/>
          <p:cNvSpPr txBox="1"/>
          <p:nvPr/>
        </p:nvSpPr>
        <p:spPr>
          <a:xfrm>
            <a:off x="548640" y="6446520"/>
            <a:ext cx="11094415" cy="320040"/>
          </a:xfrm>
          <a:prstGeom prst="rect">
            <a:avLst/>
          </a:prstGeom>
          <a:noFill/>
        </p:spPr>
        <p:txBody>
          <a:bodyPr wrap="none">
            <a:spAutoFit/>
          </a:bodyPr>
          <a:lstStyle/>
          <a:p>
            <a:pPr algn="ctr">
              <a:defRPr sz="900">
                <a:solidFill>
                  <a:srgbClr val="64748B"/>
                </a:solidFill>
              </a:defRPr>
            </a:pPr>
            <a:r>
              <a:t>SUNSYNC Autonomous Grid Intelligence • (c) 2026 LUMINITY. All rights reserved.</a:t>
            </a:r>
          </a:p>
        </p:txBody>
      </p:sp>
    </p:spTree>
  </p:cSld>
  <p:clrMapOvr>
    <a:masterClrMapping/>
  </p:clrMapOvr>
  <p:transition spd="med">
    <p:push dir="l"/>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86868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02920"/>
            <a:ext cx="100584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0F19"/>
                </a:solidFill>
              </a:defRPr>
            </a:pPr>
            <a:r>
              <a:t>SLIDE 10</a:t>
            </a:r>
          </a:p>
        </p:txBody>
      </p:sp>
      <p:sp>
        <p:nvSpPr>
          <p:cNvPr id="5" name="Rounded Rectangle 4"/>
          <p:cNvSpPr/>
          <p:nvPr/>
        </p:nvSpPr>
        <p:spPr>
          <a:xfrm>
            <a:off x="1874519" y="502920"/>
            <a:ext cx="1645920" cy="320040"/>
          </a:xfrm>
          <a:prstGeom prst="roundRect">
            <a:avLst/>
          </a:prstGeom>
          <a:solidFill>
            <a:srgbClr val="082F49"/>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STAR: RESULT &amp; CONCLUSION</a:t>
            </a:r>
          </a:p>
        </p:txBody>
      </p:sp>
      <p:sp>
        <p:nvSpPr>
          <p:cNvPr id="6" name="TextBox 5"/>
          <p:cNvSpPr txBox="1"/>
          <p:nvPr/>
        </p:nvSpPr>
        <p:spPr>
          <a:xfrm>
            <a:off x="3657600" y="411480"/>
            <a:ext cx="7772400" cy="457200"/>
          </a:xfrm>
          <a:prstGeom prst="rect">
            <a:avLst/>
          </a:prstGeom>
          <a:noFill/>
        </p:spPr>
        <p:txBody>
          <a:bodyPr wrap="square">
            <a:spAutoFit/>
          </a:bodyPr>
          <a:lstStyle/>
          <a:p>
            <a:pPr>
              <a:defRPr sz="1600" b="1">
                <a:solidFill>
                  <a:srgbClr val="F8FAFC"/>
                </a:solidFill>
              </a:defRPr>
            </a:pPr>
            <a:r>
              <a:t>Grid Economics, Decarbonization &amp; 8-Month Payback</a:t>
            </a:r>
          </a:p>
          <a:p>
            <a:pPr>
              <a:defRPr sz="1000">
                <a:solidFill>
                  <a:srgbClr val="94A3B8"/>
                </a:solidFill>
              </a:defRPr>
            </a:pPr>
            <a:r>
              <a:t>SUNSYNC AI // Autonomous Solar Grid Intelligence • Problem Statement PS-5A</a:t>
            </a:r>
          </a:p>
        </p:txBody>
      </p:sp>
      <p:sp>
        <p:nvSpPr>
          <p:cNvPr id="7" name="Rectangle 6"/>
          <p:cNvSpPr/>
          <p:nvPr/>
        </p:nvSpPr>
        <p:spPr>
          <a:xfrm>
            <a:off x="548640" y="1371600"/>
            <a:ext cx="3931920" cy="3566160"/>
          </a:xfrm>
          <a:prstGeom prst="rect">
            <a:avLst/>
          </a:prstGeom>
          <a:solidFill>
            <a:srgbClr val="111827"/>
          </a:solidFill>
          <a:ln w="1270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100" b="1">
                <a:solidFill>
                  <a:srgbClr val="F59E0B"/>
                </a:solidFill>
              </a:defRPr>
            </a:pPr>
            <a:r>
              <a:t>LIVE PLATFORM SYNC</a:t>
            </a:r>
          </a:p>
          <a:p>
            <a:pPr>
              <a:defRPr sz="1000">
                <a:solidFill>
                  <a:srgbClr val="94A3B8"/>
                </a:solidFill>
              </a:defRPr>
            </a:pPr>
            <a:r>
              <a:t>Website Tab:</a:t>
            </a:r>
          </a:p>
          <a:p>
            <a:pPr>
              <a:spcAft>
                <a:spcPts val="1400"/>
              </a:spcAft>
              <a:defRPr sz="1300" b="1">
                <a:solidFill>
                  <a:srgbClr val="38BDF8"/>
                </a:solidFill>
              </a:defRPr>
            </a:pPr>
            <a:r>
              <a:t>Economic Metrics, ESG Carbon Audit &amp; Footer (LUMINITY)</a:t>
            </a:r>
          </a:p>
          <a:p>
            <a:pPr>
              <a:defRPr sz="1000">
                <a:solidFill>
                  <a:srgbClr val="94A3B8"/>
                </a:solidFill>
              </a:defRPr>
            </a:pPr>
            <a:r>
              <a:t>Presenter Visual Cue:</a:t>
            </a:r>
          </a:p>
          <a:p>
            <a:pPr>
              <a:spcAft>
                <a:spcPts val="1200"/>
              </a:spcAft>
              <a:defRPr sz="1200">
                <a:solidFill>
                  <a:srgbClr val="F8FAFC"/>
                </a:solidFill>
              </a:defRPr>
            </a:pPr>
            <a:r>
              <a:t>Display ₹4.85L DSM savings, 1,086.1 MT avoided CO2, and the (c) 2026 LUMINITY footer.</a:t>
            </a:r>
          </a:p>
        </p:txBody>
      </p:sp>
      <p:sp>
        <p:nvSpPr>
          <p:cNvPr id="8" name="Rectangle 7"/>
          <p:cNvSpPr/>
          <p:nvPr/>
        </p:nvSpPr>
        <p:spPr>
          <a:xfrm>
            <a:off x="4663440" y="1371600"/>
            <a:ext cx="6979615" cy="356616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28600" bIns="228600"/>
          <a:lstStyle/>
          <a:p>
            <a:pPr algn="ctr">
              <a:spcAft>
                <a:spcPts val="1200"/>
              </a:spcAft>
              <a:defRPr sz="1100" b="1">
                <a:solidFill>
                  <a:srgbClr val="F59E0B"/>
                </a:solidFill>
              </a:defRPr>
            </a:pPr>
            <a:r>
              <a:t>SPEAKER SCRIPT  (SIMPLE ENGLISH)</a:t>
            </a:r>
          </a:p>
          <a:p>
            <a:pPr>
              <a:spcBef>
                <a:spcPts val="400"/>
              </a:spcBef>
              <a:defRPr sz="1450" i="0">
                <a:solidFill>
                  <a:srgbClr val="F8FAFC"/>
                </a:solidFill>
              </a:defRPr>
            </a:pPr>
            <a:r>
              <a:t>"Under CERC rules, forecast error under 10% saved Gujarat SLDC ₹4.85 lakhs daily in avoided deviation penalties, while generating ₹4.88 lakhs in green market spot revenue. Environmentally, it displaced 1,324.5 megawatt-hours of coal, avoiding 1,086.1 metric tons of carbon dioxide. With full payback in under 8 months, team LUMINITY's SUNSYNC is fully tested, cyber-secure, and ready to power India's 500-gigawatt clean grid today. Thank you!"</a:t>
            </a:r>
          </a:p>
        </p:txBody>
      </p:sp>
      <p:sp>
        <p:nvSpPr>
          <p:cNvPr id="9" name="Rectangle 8"/>
          <p:cNvSpPr/>
          <p:nvPr/>
        </p:nvSpPr>
        <p:spPr>
          <a:xfrm>
            <a:off x="548640"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₹4.85 L</a:t>
            </a:r>
          </a:p>
          <a:p>
            <a:pPr algn="ctr">
              <a:spcBef>
                <a:spcPts val="300"/>
              </a:spcBef>
              <a:defRPr sz="1000">
                <a:solidFill>
                  <a:srgbClr val="94A3B8"/>
                </a:solidFill>
              </a:defRPr>
            </a:pPr>
            <a:r>
              <a:t>Daily DSM Savings</a:t>
            </a:r>
          </a:p>
        </p:txBody>
      </p:sp>
      <p:sp>
        <p:nvSpPr>
          <p:cNvPr id="10" name="Rectangle 9"/>
          <p:cNvSpPr/>
          <p:nvPr/>
        </p:nvSpPr>
        <p:spPr>
          <a:xfrm>
            <a:off x="3364992"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₹4.88 L</a:t>
            </a:r>
          </a:p>
          <a:p>
            <a:pPr algn="ctr">
              <a:spcBef>
                <a:spcPts val="300"/>
              </a:spcBef>
              <a:defRPr sz="1000">
                <a:solidFill>
                  <a:srgbClr val="94A3B8"/>
                </a:solidFill>
              </a:defRPr>
            </a:pPr>
            <a:r>
              <a:t>IEX Spot Profit</a:t>
            </a:r>
          </a:p>
        </p:txBody>
      </p:sp>
      <p:sp>
        <p:nvSpPr>
          <p:cNvPr id="11" name="Rectangle 10"/>
          <p:cNvSpPr/>
          <p:nvPr/>
        </p:nvSpPr>
        <p:spPr>
          <a:xfrm>
            <a:off x="6181344"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1,086 MT</a:t>
            </a:r>
          </a:p>
          <a:p>
            <a:pPr algn="ctr">
              <a:spcBef>
                <a:spcPts val="300"/>
              </a:spcBef>
              <a:defRPr sz="1000">
                <a:solidFill>
                  <a:srgbClr val="94A3B8"/>
                </a:solidFill>
              </a:defRPr>
            </a:pPr>
            <a:r>
              <a:t>Avoided CO2 / Day</a:t>
            </a:r>
          </a:p>
        </p:txBody>
      </p:sp>
      <p:sp>
        <p:nvSpPr>
          <p:cNvPr id="12" name="Rectangle 11"/>
          <p:cNvSpPr/>
          <p:nvPr/>
        </p:nvSpPr>
        <p:spPr>
          <a:xfrm>
            <a:off x="8997696" y="5074920"/>
            <a:ext cx="2633472" cy="1280160"/>
          </a:xfrm>
          <a:prstGeom prst="rect">
            <a:avLst/>
          </a:prstGeom>
          <a:solidFill>
            <a:srgbClr val="042F2E"/>
          </a:solidFill>
          <a:ln w="12700">
            <a:solidFill>
              <a:srgbClr val="115E5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64592"/>
          <a:lstStyle/>
          <a:p>
            <a:pPr algn="ctr">
              <a:defRPr sz="2000" b="1">
                <a:solidFill>
                  <a:srgbClr val="34D399"/>
                </a:solidFill>
              </a:defRPr>
            </a:pPr>
            <a:r>
              <a:t>&lt; 8 Months</a:t>
            </a:r>
          </a:p>
          <a:p>
            <a:pPr algn="ctr">
              <a:spcBef>
                <a:spcPts val="300"/>
              </a:spcBef>
              <a:defRPr sz="1000">
                <a:solidFill>
                  <a:srgbClr val="94A3B8"/>
                </a:solidFill>
              </a:defRPr>
            </a:pPr>
            <a:r>
              <a:t>Full ROI Payback</a:t>
            </a:r>
          </a:p>
        </p:txBody>
      </p:sp>
      <p:sp>
        <p:nvSpPr>
          <p:cNvPr id="13" name="TextBox 12"/>
          <p:cNvSpPr txBox="1"/>
          <p:nvPr/>
        </p:nvSpPr>
        <p:spPr>
          <a:xfrm>
            <a:off x="548640" y="6446520"/>
            <a:ext cx="11094415" cy="320040"/>
          </a:xfrm>
          <a:prstGeom prst="rect">
            <a:avLst/>
          </a:prstGeom>
          <a:noFill/>
        </p:spPr>
        <p:txBody>
          <a:bodyPr wrap="none">
            <a:spAutoFit/>
          </a:bodyPr>
          <a:lstStyle/>
          <a:p>
            <a:pPr algn="ctr">
              <a:defRPr sz="900">
                <a:solidFill>
                  <a:srgbClr val="64748B"/>
                </a:solidFill>
              </a:defRPr>
            </a:pPr>
            <a:r>
              <a:t>SUNSYNC Autonomous Grid Intelligence • (c) 2026 LUMINITY. All rights reserved.</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